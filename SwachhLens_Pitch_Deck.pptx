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README.md, backend/src, mobile/App.tsx.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the citizen report flow and admin issue queue in mobile/App.tsx.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analyzeImage(), getWasteIntervention(), chooseCrew(), and issue status routes in backend/src/services.ts and backend/src/app.ts.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docs/architecture.svg, docs/architecture.md, backend/src/app.ts, backend/src/services.ts, mobile/App.tsx.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NVIDIA prompt and normalization in backend/src/services.ts; playbook rules in getWasteIntervention().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admin dashboard enrichment and status state machine in backend/src/app.ts; issue queue UI in mobile/App.tsx.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backend/package.json, mobile/package.json, backend/src, mobile/App.tsx, docker-compose.yml.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README.md demo checklist and backend/src/smoke-test.ts.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SwachhLens_Documentation.md limitations, security checks, and verification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implementation: README.md and SwachhLens_Documentation.md.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shape-0"/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" name="shape-1"/>
          <p:cNvSpPr>
            <a:spLocks noGrp="1"/>
          </p:cNvSpPr>
          <p:nvPr/>
        </p:nvSpPr>
        <p:spPr>
          <a:xfrm>
            <a:off x="9239250" y="666750"/>
            <a:ext cx="2286000" cy="2286000"/>
          </a:xfrm>
          <a:prstGeom prst="ellipse">
            <a:avLst/>
          </a:prstGeom>
          <a:solidFill>
            <a:srgbClr val="0B1021"/>
          </a:solidFill>
          <a:ln w="0">
            <a:noFill/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28650"/>
            <a:ext cx="876300" cy="876300"/>
          </a:xfrm>
          <a:prstGeom prst="rect">
            <a:avLst/>
          </a:prstGeom>
        </p:spPr>
      </p:pic>
      <p:sp>
        <p:nvSpPr>
          <p:cNvPr id="4" name="shape-2"/>
          <p:cNvSpPr>
            <a:spLocks noGrp="1"/>
          </p:cNvSpPr>
          <p:nvPr/>
        </p:nvSpPr>
        <p:spPr>
          <a:xfrm>
            <a:off x="742950" y="179070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22D3EE"/>
                </a:solidFill>
              </a:defRPr>
            </a:pPr>
            <a:r>
              <a:rPr sz="1350" b="1" i="0">
                <a:solidFill>
                  <a:srgbClr val="22D3EE"/>
                </a:solidFill>
              </a:rPr>
              <a:t>SWACHHLENS</a:t>
            </a:r>
            <a:endParaRPr sz="1350" b="1" i="0">
              <a:solidFill>
                <a:srgbClr val="22D3EE"/>
              </a:solidFill>
            </a:endParaRPr>
          </a:p>
        </p:txBody>
      </p:sp>
      <p:sp>
        <p:nvSpPr>
          <p:cNvPr id="5" name="shape-3"/>
          <p:cNvSpPr>
            <a:spLocks noGrp="1"/>
          </p:cNvSpPr>
          <p:nvPr/>
        </p:nvSpPr>
        <p:spPr>
          <a:xfrm>
            <a:off x="704850" y="2286000"/>
            <a:ext cx="72390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F8FAFC"/>
                </a:solidFill>
              </a:defRPr>
            </a:pPr>
            <a:r>
              <a:rPr sz="4050" b="1" i="0">
                <a:solidFill>
                  <a:srgbClr val="F8FAFC"/>
                </a:solidFill>
              </a:rPr>
              <a:t>Turn a waste photo</a:t>
            </a:r>
            <a:endParaRPr sz="4050" b="1" i="0">
              <a:solidFill>
                <a:srgbClr val="F8FAFC"/>
              </a:solidFill>
            </a:endParaRPr>
          </a:p>
          <a:p>
            <a:pPr algn="l">
              <a:defRPr sz="4050" b="1" i="0">
                <a:solidFill>
                  <a:srgbClr val="F8FAFC"/>
                </a:solidFill>
              </a:defRPr>
            </a:pPr>
            <a:r>
              <a:rPr sz="4050" b="1" i="0">
                <a:solidFill>
                  <a:srgbClr val="F8FAFC"/>
                </a:solidFill>
              </a:rPr>
              <a:t>into coordinated cleanup</a:t>
            </a:r>
            <a:endParaRPr sz="4050" b="1" i="0">
              <a:solidFill>
                <a:srgbClr val="F8FAFC"/>
              </a:solidFill>
            </a:endParaRPr>
          </a:p>
        </p:txBody>
      </p:sp>
      <p:sp>
        <p:nvSpPr>
          <p:cNvPr id="6" name="shape-4"/>
          <p:cNvSpPr>
            <a:spLocks noGrp="1"/>
          </p:cNvSpPr>
          <p:nvPr/>
        </p:nvSpPr>
        <p:spPr>
          <a:xfrm>
            <a:off x="742950" y="4095750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CBD5E1"/>
                </a:solidFill>
              </a:defRPr>
            </a:pPr>
            <a:r>
              <a:rPr sz="1725" b="0" i="0">
                <a:solidFill>
                  <a:srgbClr val="CBD5E1"/>
                </a:solidFill>
              </a:rPr>
              <a:t>AI-assisted sanitation response for KIIT Bhubaneswar</a:t>
            </a:r>
            <a:endParaRPr sz="1725" b="0" i="0">
              <a:solidFill>
                <a:srgbClr val="CBD5E1"/>
              </a:solidFill>
            </a:endParaRPr>
          </a:p>
        </p:txBody>
      </p:sp>
      <p:sp>
        <p:nvSpPr>
          <p:cNvPr id="7" name="shape-5"/>
          <p:cNvSpPr>
            <a:spLocks noGrp="1"/>
          </p:cNvSpPr>
          <p:nvPr/>
        </p:nvSpPr>
        <p:spPr>
          <a:xfrm>
            <a:off x="742950" y="5095875"/>
            <a:ext cx="2000250" cy="3048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HACKATHON SUBMISSION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8" name="shape-6"/>
          <p:cNvSpPr>
            <a:spLocks noGrp="1"/>
          </p:cNvSpPr>
          <p:nvPr/>
        </p:nvSpPr>
        <p:spPr>
          <a:xfrm>
            <a:off x="742950" y="5657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94A3B8"/>
                </a:solidFill>
              </a:defRPr>
            </a:pPr>
            <a:r>
              <a:rPr sz="1275" b="0" i="0">
                <a:solidFill>
                  <a:srgbClr val="94A3B8"/>
                </a:solidFill>
              </a:rPr>
              <a:t>Mobile app  ·  Admin operations  ·  NVIDIA Vision</a:t>
            </a:r>
            <a:endParaRPr sz="1275" b="0" i="0">
              <a:solidFill>
                <a:srgbClr val="94A3B8"/>
              </a:solidFill>
            </a:endParaRPr>
          </a:p>
        </p:txBody>
      </p:sp>
      <p:sp>
        <p:nvSpPr>
          <p:cNvPr id="9" name="shape-7"/>
          <p:cNvSpPr>
            <a:spLocks noGrp="1"/>
          </p:cNvSpPr>
          <p:nvPr/>
        </p:nvSpPr>
        <p:spPr>
          <a:xfrm>
            <a:off x="10610850" y="611505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CBD5E1"/>
                </a:solidFill>
              </a:defRPr>
            </a:pPr>
            <a:r>
              <a:rPr sz="1350" b="1" i="0">
                <a:solidFill>
                  <a:srgbClr val="CBD5E1"/>
                </a:solidFill>
              </a:rPr>
              <a:t>01</a:t>
            </a:r>
            <a:endParaRPr sz="1350" b="1" i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hape-8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THE PROBLEM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9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A report is only useful when it reaches the right team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10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Sanitation response breaks when intake, triage, and dispatch live in separate silos.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11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12"/>
          <p:cNvSpPr>
            <a:spLocks noGrp="1"/>
          </p:cNvSpPr>
          <p:nvPr/>
        </p:nvSpPr>
        <p:spPr>
          <a:xfrm>
            <a:off x="857250" y="2381250"/>
            <a:ext cx="2571750" cy="1952625"/>
          </a:xfrm>
          <a:prstGeom prst="roundRect">
            <a:avLst>
              <a:gd name="adj" fmla="val 7805"/>
            </a:avLst>
          </a:prstGeom>
          <a:solidFill>
            <a:srgbClr val="151F4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shape-13"/>
          <p:cNvSpPr>
            <a:spLocks noGrp="1"/>
          </p:cNvSpPr>
          <p:nvPr/>
        </p:nvSpPr>
        <p:spPr>
          <a:xfrm>
            <a:off x="1104900" y="2628900"/>
            <a:ext cx="419100" cy="4191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021"/>
                </a:solidFill>
              </a:defRPr>
            </a:pPr>
            <a:r>
              <a:rPr sz="1500" b="1">
                <a:solidFill>
                  <a:srgbClr val="0B1021"/>
                </a:solidFill>
              </a:rPr>
              <a:t>1</a:t>
            </a:r>
            <a:endParaRPr sz="1500" b="1">
              <a:solidFill>
                <a:srgbClr val="0B1021"/>
              </a:solidFill>
            </a:endParaRPr>
          </a:p>
        </p:txBody>
      </p:sp>
      <p:sp>
        <p:nvSpPr>
          <p:cNvPr id="7" name="shape-14"/>
          <p:cNvSpPr>
            <a:spLocks noGrp="1"/>
          </p:cNvSpPr>
          <p:nvPr/>
        </p:nvSpPr>
        <p:spPr>
          <a:xfrm>
            <a:off x="1104900" y="32385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Reports arrive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8" name="shape-15"/>
          <p:cNvSpPr>
            <a:spLocks noGrp="1"/>
          </p:cNvSpPr>
          <p:nvPr/>
        </p:nvSpPr>
        <p:spPr>
          <a:xfrm>
            <a:off x="1104900" y="38290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Photos and locations are scattered across messages and calls.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9" name="shape-16"/>
          <p:cNvSpPr>
            <a:spLocks noGrp="1"/>
          </p:cNvSpPr>
          <p:nvPr/>
        </p:nvSpPr>
        <p:spPr>
          <a:xfrm>
            <a:off x="3619500" y="3105150"/>
            <a:ext cx="66675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0" name="shape-17"/>
          <p:cNvSpPr>
            <a:spLocks noGrp="1"/>
          </p:cNvSpPr>
          <p:nvPr/>
        </p:nvSpPr>
        <p:spPr>
          <a:xfrm>
            <a:off x="4095750" y="2381250"/>
            <a:ext cx="2571750" cy="1952625"/>
          </a:xfrm>
          <a:prstGeom prst="roundRect">
            <a:avLst>
              <a:gd name="adj" fmla="val 7805"/>
            </a:avLst>
          </a:prstGeom>
          <a:solidFill>
            <a:srgbClr val="151F4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1" name="shape-18"/>
          <p:cNvSpPr>
            <a:spLocks noGrp="1"/>
          </p:cNvSpPr>
          <p:nvPr/>
        </p:nvSpPr>
        <p:spPr>
          <a:xfrm>
            <a:off x="4343400" y="2628900"/>
            <a:ext cx="419100" cy="4191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021"/>
                </a:solidFill>
              </a:defRPr>
            </a:pPr>
            <a:r>
              <a:rPr sz="1500" b="1">
                <a:solidFill>
                  <a:srgbClr val="0B1021"/>
                </a:solidFill>
              </a:rPr>
              <a:t>2</a:t>
            </a:r>
            <a:endParaRPr sz="1500" b="1">
              <a:solidFill>
                <a:srgbClr val="0B1021"/>
              </a:solidFill>
            </a:endParaRPr>
          </a:p>
        </p:txBody>
      </p:sp>
      <p:sp>
        <p:nvSpPr>
          <p:cNvPr id="12" name="shape-19"/>
          <p:cNvSpPr>
            <a:spLocks noGrp="1"/>
          </p:cNvSpPr>
          <p:nvPr/>
        </p:nvSpPr>
        <p:spPr>
          <a:xfrm>
            <a:off x="4343400" y="32385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Triage slows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13" name="shape-20"/>
          <p:cNvSpPr>
            <a:spLocks noGrp="1"/>
          </p:cNvSpPr>
          <p:nvPr/>
        </p:nvSpPr>
        <p:spPr>
          <a:xfrm>
            <a:off x="4343400" y="38290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Severity and waste type are hard to assess consistently.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4" name="shape-21"/>
          <p:cNvSpPr>
            <a:spLocks noGrp="1"/>
          </p:cNvSpPr>
          <p:nvPr/>
        </p:nvSpPr>
        <p:spPr>
          <a:xfrm>
            <a:off x="6858000" y="3105150"/>
            <a:ext cx="66675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shape-22"/>
          <p:cNvSpPr>
            <a:spLocks noGrp="1"/>
          </p:cNvSpPr>
          <p:nvPr/>
        </p:nvSpPr>
        <p:spPr>
          <a:xfrm>
            <a:off x="7334250" y="2381250"/>
            <a:ext cx="2571750" cy="1952625"/>
          </a:xfrm>
          <a:prstGeom prst="roundRect">
            <a:avLst>
              <a:gd name="adj" fmla="val 7805"/>
            </a:avLst>
          </a:prstGeom>
          <a:solidFill>
            <a:srgbClr val="151F4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shape-23"/>
          <p:cNvSpPr>
            <a:spLocks noGrp="1"/>
          </p:cNvSpPr>
          <p:nvPr/>
        </p:nvSpPr>
        <p:spPr>
          <a:xfrm>
            <a:off x="7581900" y="2628900"/>
            <a:ext cx="419100" cy="4191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021"/>
                </a:solidFill>
              </a:defRPr>
            </a:pPr>
            <a:r>
              <a:rPr sz="1500" b="1">
                <a:solidFill>
                  <a:srgbClr val="0B1021"/>
                </a:solidFill>
              </a:rPr>
              <a:t>3</a:t>
            </a:r>
            <a:endParaRPr sz="1500" b="1">
              <a:solidFill>
                <a:srgbClr val="0B1021"/>
              </a:solidFill>
            </a:endParaRPr>
          </a:p>
        </p:txBody>
      </p:sp>
      <p:sp>
        <p:nvSpPr>
          <p:cNvPr id="17" name="shape-24"/>
          <p:cNvSpPr>
            <a:spLocks noGrp="1"/>
          </p:cNvSpPr>
          <p:nvPr/>
        </p:nvSpPr>
        <p:spPr>
          <a:xfrm>
            <a:off x="7581900" y="323850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Dispatch stays generic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18" name="shape-25"/>
          <p:cNvSpPr>
            <a:spLocks noGrp="1"/>
          </p:cNvSpPr>
          <p:nvPr/>
        </p:nvSpPr>
        <p:spPr>
          <a:xfrm>
            <a:off x="7581900" y="38290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The available crew may not match the actual material or risk.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9" name="shape-26"/>
          <p:cNvSpPr>
            <a:spLocks noGrp="1"/>
          </p:cNvSpPr>
          <p:nvPr/>
        </p:nvSpPr>
        <p:spPr>
          <a:xfrm>
            <a:off x="857250" y="495300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86EFAC"/>
                </a:solidFill>
              </a:defRPr>
            </a:pPr>
            <a:r>
              <a:rPr sz="2100" b="1" i="0">
                <a:solidFill>
                  <a:srgbClr val="86EFAC"/>
                </a:solidFill>
              </a:rPr>
              <a:t>The operational question is simple: what is it, how urgent is it, and who can safely handle it?</a:t>
            </a:r>
            <a:endParaRPr sz="2100" b="1" i="0">
              <a:solidFill>
                <a:srgbClr val="86EFAC"/>
              </a:solidFill>
            </a:endParaRPr>
          </a:p>
        </p:txBody>
      </p:sp>
      <p:sp>
        <p:nvSpPr>
          <p:cNvPr id="20" name="shape-27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02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21" name="shape-28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hape-29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THE SOLUTION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30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One report becomes an explainable response plan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31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SwachhLens connects evidence, rules, and action in one lightweight workflow.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32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33"/>
          <p:cNvSpPr>
            <a:spLocks noGrp="1"/>
          </p:cNvSpPr>
          <p:nvPr/>
        </p:nvSpPr>
        <p:spPr>
          <a:xfrm>
            <a:off x="857250" y="2381250"/>
            <a:ext cx="876300" cy="8763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6" name="shape-34"/>
          <p:cNvSpPr>
            <a:spLocks noGrp="1"/>
          </p:cNvSpPr>
          <p:nvPr/>
        </p:nvSpPr>
        <p:spPr>
          <a:xfrm>
            <a:off x="857250" y="2647950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0B1021"/>
                </a:solidFill>
              </a:defRPr>
            </a:pPr>
            <a:r>
              <a:rPr sz="1950" b="1" i="0">
                <a:solidFill>
                  <a:srgbClr val="0B1021"/>
                </a:solidFill>
              </a:rPr>
              <a:t>1</a:t>
            </a:r>
            <a:endParaRPr sz="1950" b="1" i="0">
              <a:solidFill>
                <a:srgbClr val="0B1021"/>
              </a:solidFill>
            </a:endParaRPr>
          </a:p>
        </p:txBody>
      </p:sp>
      <p:sp>
        <p:nvSpPr>
          <p:cNvPr id="7" name="shape-35"/>
          <p:cNvSpPr>
            <a:spLocks noGrp="1"/>
          </p:cNvSpPr>
          <p:nvPr/>
        </p:nvSpPr>
        <p:spPr>
          <a:xfrm>
            <a:off x="704850" y="35242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Capture</a:t>
            </a:r>
            <a:endParaRPr sz="1875" b="1" i="0">
              <a:solidFill>
                <a:srgbClr val="F8FAFC"/>
              </a:solidFill>
            </a:endParaRPr>
          </a:p>
        </p:txBody>
      </p:sp>
      <p:sp>
        <p:nvSpPr>
          <p:cNvPr id="8" name="shape-36"/>
          <p:cNvSpPr>
            <a:spLocks noGrp="1"/>
          </p:cNvSpPr>
          <p:nvPr/>
        </p:nvSpPr>
        <p:spPr>
          <a:xfrm>
            <a:off x="342900" y="3943350"/>
            <a:ext cx="190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CBD5E1"/>
                </a:solidFill>
              </a:defRPr>
            </a:pPr>
            <a:r>
              <a:rPr sz="1275" b="0" i="0">
                <a:solidFill>
                  <a:srgbClr val="CBD5E1"/>
                </a:solidFill>
              </a:rPr>
              <a:t>Photo + campus + GPS</a:t>
            </a:r>
            <a:endParaRPr sz="1275" b="0" i="0">
              <a:solidFill>
                <a:srgbClr val="CBD5E1"/>
              </a:solidFill>
            </a:endParaRPr>
          </a:p>
        </p:txBody>
      </p:sp>
      <p:sp>
        <p:nvSpPr>
          <p:cNvPr id="9" name="shape-37"/>
          <p:cNvSpPr>
            <a:spLocks noGrp="1"/>
          </p:cNvSpPr>
          <p:nvPr/>
        </p:nvSpPr>
        <p:spPr>
          <a:xfrm>
            <a:off x="2000250" y="2686050"/>
            <a:ext cx="1000125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0" name="shape-38"/>
          <p:cNvSpPr>
            <a:spLocks noGrp="1"/>
          </p:cNvSpPr>
          <p:nvPr/>
        </p:nvSpPr>
        <p:spPr>
          <a:xfrm>
            <a:off x="3429000" y="2381250"/>
            <a:ext cx="876300" cy="8763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1" name="shape-39"/>
          <p:cNvSpPr>
            <a:spLocks noGrp="1"/>
          </p:cNvSpPr>
          <p:nvPr/>
        </p:nvSpPr>
        <p:spPr>
          <a:xfrm>
            <a:off x="3429000" y="2647950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0B1021"/>
                </a:solidFill>
              </a:defRPr>
            </a:pPr>
            <a:r>
              <a:rPr sz="1950" b="1" i="0">
                <a:solidFill>
                  <a:srgbClr val="0B1021"/>
                </a:solidFill>
              </a:rPr>
              <a:t>2</a:t>
            </a:r>
            <a:endParaRPr sz="1950" b="1" i="0">
              <a:solidFill>
                <a:srgbClr val="0B1021"/>
              </a:solidFill>
            </a:endParaRPr>
          </a:p>
        </p:txBody>
      </p:sp>
      <p:sp>
        <p:nvSpPr>
          <p:cNvPr id="12" name="shape-40"/>
          <p:cNvSpPr>
            <a:spLocks noGrp="1"/>
          </p:cNvSpPr>
          <p:nvPr/>
        </p:nvSpPr>
        <p:spPr>
          <a:xfrm>
            <a:off x="3276600" y="35242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Classify</a:t>
            </a:r>
            <a:endParaRPr sz="1875" b="1" i="0">
              <a:solidFill>
                <a:srgbClr val="F8FAFC"/>
              </a:solidFill>
            </a:endParaRPr>
          </a:p>
        </p:txBody>
      </p:sp>
      <p:sp>
        <p:nvSpPr>
          <p:cNvPr id="13" name="shape-41"/>
          <p:cNvSpPr>
            <a:spLocks noGrp="1"/>
          </p:cNvSpPr>
          <p:nvPr/>
        </p:nvSpPr>
        <p:spPr>
          <a:xfrm>
            <a:off x="2914650" y="3943350"/>
            <a:ext cx="190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CBD5E1"/>
                </a:solidFill>
              </a:defRPr>
            </a:pPr>
            <a:r>
              <a:rPr sz="1275" b="0" i="0">
                <a:solidFill>
                  <a:srgbClr val="CBD5E1"/>
                </a:solidFill>
              </a:rPr>
              <a:t>NVIDIA category + severity</a:t>
            </a:r>
            <a:endParaRPr sz="1275" b="0" i="0">
              <a:solidFill>
                <a:srgbClr val="CBD5E1"/>
              </a:solidFill>
            </a:endParaRPr>
          </a:p>
        </p:txBody>
      </p:sp>
      <p:sp>
        <p:nvSpPr>
          <p:cNvPr id="14" name="shape-42"/>
          <p:cNvSpPr>
            <a:spLocks noGrp="1"/>
          </p:cNvSpPr>
          <p:nvPr/>
        </p:nvSpPr>
        <p:spPr>
          <a:xfrm>
            <a:off x="4572000" y="2686050"/>
            <a:ext cx="1000125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shape-43"/>
          <p:cNvSpPr>
            <a:spLocks noGrp="1"/>
          </p:cNvSpPr>
          <p:nvPr/>
        </p:nvSpPr>
        <p:spPr>
          <a:xfrm>
            <a:off x="6000750" y="2381250"/>
            <a:ext cx="876300" cy="8763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16" name="shape-44"/>
          <p:cNvSpPr>
            <a:spLocks noGrp="1"/>
          </p:cNvSpPr>
          <p:nvPr/>
        </p:nvSpPr>
        <p:spPr>
          <a:xfrm>
            <a:off x="6000750" y="2647950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0B1021"/>
                </a:solidFill>
              </a:defRPr>
            </a:pPr>
            <a:r>
              <a:rPr sz="1950" b="1" i="0">
                <a:solidFill>
                  <a:srgbClr val="0B1021"/>
                </a:solidFill>
              </a:rPr>
              <a:t>3</a:t>
            </a:r>
            <a:endParaRPr sz="1950" b="1" i="0">
              <a:solidFill>
                <a:srgbClr val="0B1021"/>
              </a:solidFill>
            </a:endParaRPr>
          </a:p>
        </p:txBody>
      </p:sp>
      <p:sp>
        <p:nvSpPr>
          <p:cNvPr id="17" name="shape-45"/>
          <p:cNvSpPr>
            <a:spLocks noGrp="1"/>
          </p:cNvSpPr>
          <p:nvPr/>
        </p:nvSpPr>
        <p:spPr>
          <a:xfrm>
            <a:off x="5848350" y="35242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Route</a:t>
            </a:r>
            <a:endParaRPr sz="1875" b="1" i="0">
              <a:solidFill>
                <a:srgbClr val="F8FAFC"/>
              </a:solidFill>
            </a:endParaRPr>
          </a:p>
        </p:txBody>
      </p:sp>
      <p:sp>
        <p:nvSpPr>
          <p:cNvPr id="18" name="shape-46"/>
          <p:cNvSpPr>
            <a:spLocks noGrp="1"/>
          </p:cNvSpPr>
          <p:nvPr/>
        </p:nvSpPr>
        <p:spPr>
          <a:xfrm>
            <a:off x="5486400" y="3943350"/>
            <a:ext cx="190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CBD5E1"/>
                </a:solidFill>
              </a:defRPr>
            </a:pPr>
            <a:r>
              <a:rPr sz="1275" b="0" i="0">
                <a:solidFill>
                  <a:srgbClr val="CBD5E1"/>
                </a:solidFill>
              </a:rPr>
              <a:t>Playbook + specialty crew</a:t>
            </a:r>
            <a:endParaRPr sz="1275" b="0" i="0">
              <a:solidFill>
                <a:srgbClr val="CBD5E1"/>
              </a:solidFill>
            </a:endParaRPr>
          </a:p>
        </p:txBody>
      </p:sp>
      <p:sp>
        <p:nvSpPr>
          <p:cNvPr id="19" name="shape-47"/>
          <p:cNvSpPr>
            <a:spLocks noGrp="1"/>
          </p:cNvSpPr>
          <p:nvPr/>
        </p:nvSpPr>
        <p:spPr>
          <a:xfrm>
            <a:off x="7143750" y="2686050"/>
            <a:ext cx="1000125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0" name="shape-48"/>
          <p:cNvSpPr>
            <a:spLocks noGrp="1"/>
          </p:cNvSpPr>
          <p:nvPr/>
        </p:nvSpPr>
        <p:spPr>
          <a:xfrm>
            <a:off x="8572500" y="2381250"/>
            <a:ext cx="876300" cy="876300"/>
          </a:xfrm>
          <a:prstGeom prst="ellipse">
            <a:avLst/>
          </a:prstGeom>
          <a:solidFill>
            <a:srgbClr val="86EFAC"/>
          </a:solidFill>
          <a:ln w="0">
            <a:noFill/>
            <a:prstDash val="solid"/>
          </a:ln>
        </p:spPr>
      </p:sp>
      <p:sp>
        <p:nvSpPr>
          <p:cNvPr id="21" name="shape-49"/>
          <p:cNvSpPr>
            <a:spLocks noGrp="1"/>
          </p:cNvSpPr>
          <p:nvPr/>
        </p:nvSpPr>
        <p:spPr>
          <a:xfrm>
            <a:off x="8572500" y="2647950"/>
            <a:ext cx="87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0B1021"/>
                </a:solidFill>
              </a:defRPr>
            </a:pPr>
            <a:r>
              <a:rPr sz="1950" b="1" i="0">
                <a:solidFill>
                  <a:srgbClr val="0B1021"/>
                </a:solidFill>
              </a:rPr>
              <a:t>4</a:t>
            </a:r>
            <a:endParaRPr sz="1950" b="1" i="0">
              <a:solidFill>
                <a:srgbClr val="0B1021"/>
              </a:solidFill>
            </a:endParaRPr>
          </a:p>
        </p:txBody>
      </p:sp>
      <p:sp>
        <p:nvSpPr>
          <p:cNvPr id="22" name="shape-50"/>
          <p:cNvSpPr>
            <a:spLocks noGrp="1"/>
          </p:cNvSpPr>
          <p:nvPr/>
        </p:nvSpPr>
        <p:spPr>
          <a:xfrm>
            <a:off x="8420100" y="35242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Resolve</a:t>
            </a:r>
            <a:endParaRPr sz="1875" b="1" i="0">
              <a:solidFill>
                <a:srgbClr val="F8FAFC"/>
              </a:solidFill>
            </a:endParaRPr>
          </a:p>
        </p:txBody>
      </p:sp>
      <p:sp>
        <p:nvSpPr>
          <p:cNvPr id="23" name="shape-51"/>
          <p:cNvSpPr>
            <a:spLocks noGrp="1"/>
          </p:cNvSpPr>
          <p:nvPr/>
        </p:nvSpPr>
        <p:spPr>
          <a:xfrm>
            <a:off x="8058150" y="3943350"/>
            <a:ext cx="190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CBD5E1"/>
                </a:solidFill>
              </a:defRPr>
            </a:pPr>
            <a:r>
              <a:rPr sz="1275" b="0" i="0">
                <a:solidFill>
                  <a:srgbClr val="CBD5E1"/>
                </a:solidFill>
              </a:rPr>
              <a:t>Status + audit trail</a:t>
            </a:r>
            <a:endParaRPr sz="1275" b="0" i="0">
              <a:solidFill>
                <a:srgbClr val="CBD5E1"/>
              </a:solidFill>
            </a:endParaRPr>
          </a:p>
        </p:txBody>
      </p:sp>
      <p:sp>
        <p:nvSpPr>
          <p:cNvPr id="24" name="shape-52"/>
          <p:cNvSpPr>
            <a:spLocks noGrp="1"/>
          </p:cNvSpPr>
          <p:nvPr/>
        </p:nvSpPr>
        <p:spPr>
          <a:xfrm>
            <a:off x="857250" y="5143500"/>
            <a:ext cx="9810750" cy="571500"/>
          </a:xfrm>
          <a:prstGeom prst="roundRect">
            <a:avLst>
              <a:gd name="adj" fmla="val 26667"/>
            </a:avLst>
          </a:prstGeom>
          <a:solidFill>
            <a:srgbClr val="1B2750"/>
          </a:solidFill>
          <a:ln w="0">
            <a:noFill/>
            <a:prstDash val="solid"/>
          </a:ln>
        </p:spPr>
      </p:sp>
      <p:sp>
        <p:nvSpPr>
          <p:cNvPr id="25" name="shape-53"/>
          <p:cNvSpPr>
            <a:spLocks noGrp="1"/>
          </p:cNvSpPr>
          <p:nvPr/>
        </p:nvSpPr>
        <p:spPr>
          <a:xfrm>
            <a:off x="1123950" y="52959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A transparent chain: visual signal → normalized category → operational rule → accountable action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26" name="shape-54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03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27" name="shape-55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shape-56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ARCHITECTURE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57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A lightweight system built for a fast, transparent demo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58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Two client modes share one API and one decision pipeline.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59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60"/>
          <p:cNvSpPr>
            <a:spLocks noGrp="1"/>
          </p:cNvSpPr>
          <p:nvPr/>
        </p:nvSpPr>
        <p:spPr>
          <a:xfrm>
            <a:off x="857250" y="2381250"/>
            <a:ext cx="1619250" cy="1428750"/>
          </a:xfrm>
          <a:prstGeom prst="roundRect">
            <a:avLst>
              <a:gd name="adj" fmla="val 10667"/>
            </a:avLst>
          </a:prstGeom>
          <a:solidFill>
            <a:srgbClr val="151F4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shape-61"/>
          <p:cNvSpPr>
            <a:spLocks noGrp="1"/>
          </p:cNvSpPr>
          <p:nvPr/>
        </p:nvSpPr>
        <p:spPr>
          <a:xfrm>
            <a:off x="1009650" y="26479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Expo client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7" name="shape-62"/>
          <p:cNvSpPr>
            <a:spLocks noGrp="1"/>
          </p:cNvSpPr>
          <p:nvPr/>
        </p:nvSpPr>
        <p:spPr>
          <a:xfrm>
            <a:off x="1009650" y="30670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Citizen + admin</a:t>
            </a:r>
            <a:endParaRPr sz="1200" b="0" i="0">
              <a:solidFill>
                <a:srgbClr val="CBD5E1"/>
              </a:solidFill>
            </a:endParaRPr>
          </a:p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React Native / TS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8" name="shape-63"/>
          <p:cNvSpPr>
            <a:spLocks noGrp="1"/>
          </p:cNvSpPr>
          <p:nvPr/>
        </p:nvSpPr>
        <p:spPr>
          <a:xfrm>
            <a:off x="3238500" y="2381250"/>
            <a:ext cx="1619250" cy="142875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9" name="shape-64"/>
          <p:cNvSpPr>
            <a:spLocks noGrp="1"/>
          </p:cNvSpPr>
          <p:nvPr/>
        </p:nvSpPr>
        <p:spPr>
          <a:xfrm>
            <a:off x="3390900" y="26479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Express API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10" name="shape-65"/>
          <p:cNvSpPr>
            <a:spLocks noGrp="1"/>
          </p:cNvSpPr>
          <p:nvPr/>
        </p:nvSpPr>
        <p:spPr>
          <a:xfrm>
            <a:off x="3390900" y="30670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Auth · upload · REST</a:t>
            </a:r>
            <a:endParaRPr sz="1200" b="0" i="0">
              <a:solidFill>
                <a:srgbClr val="CBD5E1"/>
              </a:solidFill>
            </a:endParaRPr>
          </a:p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TypeScript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1" name="shape-66"/>
          <p:cNvSpPr>
            <a:spLocks noGrp="1"/>
          </p:cNvSpPr>
          <p:nvPr/>
        </p:nvSpPr>
        <p:spPr>
          <a:xfrm>
            <a:off x="5619750" y="2381250"/>
            <a:ext cx="1619250" cy="1428750"/>
          </a:xfrm>
          <a:prstGeom prst="roundRect">
            <a:avLst>
              <a:gd name="adj" fmla="val 10667"/>
            </a:avLst>
          </a:prstGeom>
          <a:solidFill>
            <a:srgbClr val="124E6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shape-67"/>
          <p:cNvSpPr>
            <a:spLocks noGrp="1"/>
          </p:cNvSpPr>
          <p:nvPr/>
        </p:nvSpPr>
        <p:spPr>
          <a:xfrm>
            <a:off x="5772150" y="26479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Decision layer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13" name="shape-68"/>
          <p:cNvSpPr>
            <a:spLocks noGrp="1"/>
          </p:cNvSpPr>
          <p:nvPr/>
        </p:nvSpPr>
        <p:spPr>
          <a:xfrm>
            <a:off x="5772150" y="30670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NVIDIA Vision</a:t>
            </a:r>
            <a:endParaRPr sz="1200" b="0" i="0">
              <a:solidFill>
                <a:srgbClr val="CBD5E1"/>
              </a:solidFill>
            </a:endParaRPr>
          </a:p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Playbook · crews · ETA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4" name="shape-69"/>
          <p:cNvSpPr>
            <a:spLocks noGrp="1"/>
          </p:cNvSpPr>
          <p:nvPr/>
        </p:nvSpPr>
        <p:spPr>
          <a:xfrm>
            <a:off x="8001000" y="2381250"/>
            <a:ext cx="1619250" cy="1428750"/>
          </a:xfrm>
          <a:prstGeom prst="roundRect">
            <a:avLst>
              <a:gd name="adj" fmla="val 10667"/>
            </a:avLst>
          </a:prstGeom>
          <a:solidFill>
            <a:srgbClr val="134E4A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5" name="shape-70"/>
          <p:cNvSpPr>
            <a:spLocks noGrp="1"/>
          </p:cNvSpPr>
          <p:nvPr/>
        </p:nvSpPr>
        <p:spPr>
          <a:xfrm>
            <a:off x="8153400" y="26479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Persistence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16" name="shape-71"/>
          <p:cNvSpPr>
            <a:spLocks noGrp="1"/>
          </p:cNvSpPr>
          <p:nvPr/>
        </p:nvSpPr>
        <p:spPr>
          <a:xfrm>
            <a:off x="8153400" y="30670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JSON records</a:t>
            </a:r>
            <a:endParaRPr sz="1200" b="0" i="0">
              <a:solidFill>
                <a:srgbClr val="CBD5E1"/>
              </a:solidFill>
            </a:endParaRPr>
          </a:p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Atomic writes + uploads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7" name="shape-72"/>
          <p:cNvSpPr>
            <a:spLocks noGrp="1"/>
          </p:cNvSpPr>
          <p:nvPr/>
        </p:nvSpPr>
        <p:spPr>
          <a:xfrm>
            <a:off x="10382250" y="2381250"/>
            <a:ext cx="1619250" cy="1428750"/>
          </a:xfrm>
          <a:prstGeom prst="roundRect">
            <a:avLst>
              <a:gd name="adj" fmla="val 10667"/>
            </a:avLst>
          </a:prstGeom>
          <a:solidFill>
            <a:srgbClr val="3F3F46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8" name="shape-73"/>
          <p:cNvSpPr>
            <a:spLocks noGrp="1"/>
          </p:cNvSpPr>
          <p:nvPr/>
        </p:nvSpPr>
        <p:spPr>
          <a:xfrm>
            <a:off x="10534650" y="26479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Operations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19" name="shape-74"/>
          <p:cNvSpPr>
            <a:spLocks noGrp="1"/>
          </p:cNvSpPr>
          <p:nvPr/>
        </p:nvSpPr>
        <p:spPr>
          <a:xfrm>
            <a:off x="10534650" y="3067050"/>
            <a:ext cx="1314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Issue lifecycle</a:t>
            </a:r>
            <a:endParaRPr sz="1200" b="0" i="0">
              <a:solidFill>
                <a:srgbClr val="CBD5E1"/>
              </a:solidFill>
            </a:endParaRPr>
          </a:p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Audit + dashboard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20" name="shape-75"/>
          <p:cNvSpPr>
            <a:spLocks noGrp="1"/>
          </p:cNvSpPr>
          <p:nvPr/>
        </p:nvSpPr>
        <p:spPr>
          <a:xfrm>
            <a:off x="2647950" y="2990850"/>
            <a:ext cx="457200" cy="228600"/>
          </a:xfrm>
          <a:prstGeom prst="rightArrow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21" name="shape-76"/>
          <p:cNvSpPr>
            <a:spLocks noGrp="1"/>
          </p:cNvSpPr>
          <p:nvPr/>
        </p:nvSpPr>
        <p:spPr>
          <a:xfrm>
            <a:off x="5029200" y="2990850"/>
            <a:ext cx="457200" cy="228600"/>
          </a:xfrm>
          <a:prstGeom prst="rightArrow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22" name="shape-77"/>
          <p:cNvSpPr>
            <a:spLocks noGrp="1"/>
          </p:cNvSpPr>
          <p:nvPr/>
        </p:nvSpPr>
        <p:spPr>
          <a:xfrm>
            <a:off x="7410450" y="2990850"/>
            <a:ext cx="457200" cy="228600"/>
          </a:xfrm>
          <a:prstGeom prst="rightArrow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23" name="shape-78"/>
          <p:cNvSpPr>
            <a:spLocks noGrp="1"/>
          </p:cNvSpPr>
          <p:nvPr/>
        </p:nvSpPr>
        <p:spPr>
          <a:xfrm>
            <a:off x="9791700" y="2990850"/>
            <a:ext cx="457200" cy="228600"/>
          </a:xfrm>
          <a:prstGeom prst="rightArrow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24" name="shape-79"/>
          <p:cNvSpPr>
            <a:spLocks noGrp="1"/>
          </p:cNvSpPr>
          <p:nvPr/>
        </p:nvSpPr>
        <p:spPr>
          <a:xfrm>
            <a:off x="857250" y="20383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94A3B8"/>
                </a:solidFill>
              </a:defRPr>
            </a:pPr>
            <a:r>
              <a:rPr sz="1200" b="1" i="0">
                <a:solidFill>
                  <a:srgbClr val="94A3B8"/>
                </a:solidFill>
              </a:rPr>
              <a:t>Runtime boundary</a:t>
            </a:r>
            <a:endParaRPr sz="1200" b="1" i="0">
              <a:solidFill>
                <a:srgbClr val="94A3B8"/>
              </a:solidFill>
            </a:endParaRPr>
          </a:p>
        </p:txBody>
      </p:sp>
      <p:sp>
        <p:nvSpPr>
          <p:cNvPr id="25" name="shape-80"/>
          <p:cNvSpPr>
            <a:spLocks noGrp="1"/>
          </p:cNvSpPr>
          <p:nvPr/>
        </p:nvSpPr>
        <p:spPr>
          <a:xfrm>
            <a:off x="5638800" y="4143375"/>
            <a:ext cx="781050" cy="304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021"/>
                </a:solidFill>
              </a:defRPr>
            </a:pPr>
            <a:r>
              <a:rPr sz="1050" b="1">
                <a:solidFill>
                  <a:srgbClr val="0B1021"/>
                </a:solidFill>
              </a:rPr>
              <a:t>REMOTE</a:t>
            </a:r>
            <a:endParaRPr sz="1050" b="1">
              <a:solidFill>
                <a:srgbClr val="0B1021"/>
              </a:solidFill>
            </a:endParaRPr>
          </a:p>
        </p:txBody>
      </p:sp>
      <p:sp>
        <p:nvSpPr>
          <p:cNvPr id="26" name="shape-81"/>
          <p:cNvSpPr>
            <a:spLocks noGrp="1"/>
          </p:cNvSpPr>
          <p:nvPr/>
        </p:nvSpPr>
        <p:spPr>
          <a:xfrm>
            <a:off x="8020050" y="4143375"/>
            <a:ext cx="704850" cy="304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021"/>
                </a:solidFill>
              </a:defRPr>
            </a:pPr>
            <a:r>
              <a:rPr sz="1050" b="1">
                <a:solidFill>
                  <a:srgbClr val="0B1021"/>
                </a:solidFill>
              </a:rPr>
              <a:t>LOCAL</a:t>
            </a:r>
            <a:endParaRPr sz="1050" b="1">
              <a:solidFill>
                <a:srgbClr val="0B1021"/>
              </a:solidFill>
            </a:endParaRPr>
          </a:p>
        </p:txBody>
      </p:sp>
      <p:sp>
        <p:nvSpPr>
          <p:cNvPr id="27" name="shape-82"/>
          <p:cNvSpPr>
            <a:spLocks noGrp="1"/>
          </p:cNvSpPr>
          <p:nvPr/>
        </p:nvSpPr>
        <p:spPr>
          <a:xfrm>
            <a:off x="857250" y="5095875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86EFAC"/>
                </a:solidFill>
              </a:defRPr>
            </a:pPr>
            <a:r>
              <a:rPr sz="1875" b="1" i="0">
                <a:solidFill>
                  <a:srgbClr val="86EFAC"/>
                </a:solidFill>
              </a:rPr>
              <a:t>No database server or map provider is required for the MVP demo.</a:t>
            </a:r>
            <a:endParaRPr sz="1875" b="1" i="0">
              <a:solidFill>
                <a:srgbClr val="86EFAC"/>
              </a:solidFill>
            </a:endParaRPr>
          </a:p>
        </p:txBody>
      </p:sp>
      <p:sp>
        <p:nvSpPr>
          <p:cNvPr id="28" name="shape-83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04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29" name="shape-84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shape-85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DECISION INTELLIGENCE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86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Vision sets the category; the playbook sets the action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87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The model is constrained to known categories, while the response rules stay deterministic and reviewable.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88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89"/>
          <p:cNvSpPr>
            <a:spLocks noGrp="1"/>
          </p:cNvSpPr>
          <p:nvPr/>
        </p:nvSpPr>
        <p:spPr>
          <a:xfrm>
            <a:off x="857250" y="2286000"/>
            <a:ext cx="4000500" cy="2857500"/>
          </a:xfrm>
          <a:prstGeom prst="roundRect">
            <a:avLst>
              <a:gd name="adj" fmla="val 5333"/>
            </a:avLst>
          </a:prstGeom>
          <a:solidFill>
            <a:srgbClr val="151F4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shape-90"/>
          <p:cNvSpPr>
            <a:spLocks noGrp="1"/>
          </p:cNvSpPr>
          <p:nvPr/>
        </p:nvSpPr>
        <p:spPr>
          <a:xfrm>
            <a:off x="1162050" y="2609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2D3EE"/>
                </a:solidFill>
              </a:defRPr>
            </a:pPr>
            <a:r>
              <a:rPr sz="2100" b="1" i="0">
                <a:solidFill>
                  <a:srgbClr val="22D3EE"/>
                </a:solidFill>
              </a:rPr>
              <a:t>NVIDIA Vision</a:t>
            </a:r>
            <a:endParaRPr sz="2100" b="1" i="0">
              <a:solidFill>
                <a:srgbClr val="22D3EE"/>
              </a:solidFill>
            </a:endParaRPr>
          </a:p>
        </p:txBody>
      </p:sp>
      <p:sp>
        <p:nvSpPr>
          <p:cNvPr id="7" name="shape-91"/>
          <p:cNvSpPr>
            <a:spLocks noGrp="1"/>
          </p:cNvSpPr>
          <p:nvPr/>
        </p:nvSpPr>
        <p:spPr>
          <a:xfrm>
            <a:off x="1162050" y="3162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94A3B8"/>
                </a:solidFill>
              </a:defRPr>
            </a:pPr>
            <a:r>
              <a:rPr sz="1275" b="1" i="0">
                <a:solidFill>
                  <a:srgbClr val="94A3B8"/>
                </a:solidFill>
              </a:rPr>
              <a:t>Returns</a:t>
            </a:r>
            <a:endParaRPr sz="1275" b="1" i="0">
              <a:solidFill>
                <a:srgbClr val="94A3B8"/>
              </a:solidFill>
            </a:endParaRPr>
          </a:p>
        </p:txBody>
      </p:sp>
      <p:sp>
        <p:nvSpPr>
          <p:cNvPr id="8" name="shape-92"/>
          <p:cNvSpPr>
            <a:spLocks noGrp="1"/>
          </p:cNvSpPr>
          <p:nvPr/>
        </p:nvSpPr>
        <p:spPr>
          <a:xfrm>
            <a:off x="1200150" y="36004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9" name="shape-93"/>
          <p:cNvSpPr>
            <a:spLocks noGrp="1"/>
          </p:cNvSpPr>
          <p:nvPr/>
        </p:nvSpPr>
        <p:spPr>
          <a:xfrm>
            <a:off x="1447800" y="35242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Waste category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0" name="shape-94"/>
          <p:cNvSpPr>
            <a:spLocks noGrp="1"/>
          </p:cNvSpPr>
          <p:nvPr/>
        </p:nvSpPr>
        <p:spPr>
          <a:xfrm>
            <a:off x="1200150" y="3971925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1" name="shape-95"/>
          <p:cNvSpPr>
            <a:spLocks noGrp="1"/>
          </p:cNvSpPr>
          <p:nvPr/>
        </p:nvSpPr>
        <p:spPr>
          <a:xfrm>
            <a:off x="1447800" y="38957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Volume class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2" name="shape-96"/>
          <p:cNvSpPr>
            <a:spLocks noGrp="1"/>
          </p:cNvSpPr>
          <p:nvPr/>
        </p:nvSpPr>
        <p:spPr>
          <a:xfrm>
            <a:off x="1200150" y="43434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3" name="shape-97"/>
          <p:cNvSpPr>
            <a:spLocks noGrp="1"/>
          </p:cNvSpPr>
          <p:nvPr/>
        </p:nvSpPr>
        <p:spPr>
          <a:xfrm>
            <a:off x="1447800" y="42672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Confidence + severity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4" name="shape-98"/>
          <p:cNvSpPr>
            <a:spLocks noGrp="1"/>
          </p:cNvSpPr>
          <p:nvPr/>
        </p:nvSpPr>
        <p:spPr>
          <a:xfrm>
            <a:off x="1200150" y="4714875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5" name="shape-99"/>
          <p:cNvSpPr>
            <a:spLocks noGrp="1"/>
          </p:cNvSpPr>
          <p:nvPr/>
        </p:nvSpPr>
        <p:spPr>
          <a:xfrm>
            <a:off x="1447800" y="46386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Plain-language explanation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6" name="shape-100"/>
          <p:cNvSpPr>
            <a:spLocks noGrp="1"/>
          </p:cNvSpPr>
          <p:nvPr/>
        </p:nvSpPr>
        <p:spPr>
          <a:xfrm>
            <a:off x="5219700" y="3381375"/>
            <a:ext cx="952500" cy="228600"/>
          </a:xfrm>
          <a:prstGeom prst="rightArrow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7" name="shape-101"/>
          <p:cNvSpPr>
            <a:spLocks noGrp="1"/>
          </p:cNvSpPr>
          <p:nvPr/>
        </p:nvSpPr>
        <p:spPr>
          <a:xfrm>
            <a:off x="6572250" y="2286000"/>
            <a:ext cx="4095750" cy="2857500"/>
          </a:xfrm>
          <a:prstGeom prst="roundRect">
            <a:avLst>
              <a:gd name="adj" fmla="val 5333"/>
            </a:avLst>
          </a:prstGeom>
          <a:solidFill>
            <a:srgbClr val="151F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8" name="shape-102"/>
          <p:cNvSpPr>
            <a:spLocks noGrp="1"/>
          </p:cNvSpPr>
          <p:nvPr/>
        </p:nvSpPr>
        <p:spPr>
          <a:xfrm>
            <a:off x="6877050" y="26098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DD4BF"/>
                </a:solidFill>
              </a:defRPr>
            </a:pPr>
            <a:r>
              <a:rPr sz="2100" b="1" i="0">
                <a:solidFill>
                  <a:srgbClr val="2DD4BF"/>
                </a:solidFill>
              </a:rPr>
              <a:t>Waste playbook</a:t>
            </a:r>
            <a:endParaRPr sz="2100" b="1" i="0">
              <a:solidFill>
                <a:srgbClr val="2DD4BF"/>
              </a:solidFill>
            </a:endParaRPr>
          </a:p>
        </p:txBody>
      </p:sp>
      <p:sp>
        <p:nvSpPr>
          <p:cNvPr id="19" name="shape-103"/>
          <p:cNvSpPr>
            <a:spLocks noGrp="1"/>
          </p:cNvSpPr>
          <p:nvPr/>
        </p:nvSpPr>
        <p:spPr>
          <a:xfrm>
            <a:off x="6877050" y="3162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94A3B8"/>
                </a:solidFill>
              </a:defRPr>
            </a:pPr>
            <a:r>
              <a:rPr sz="1275" b="1" i="0">
                <a:solidFill>
                  <a:srgbClr val="94A3B8"/>
                </a:solidFill>
              </a:rPr>
              <a:t>Turns the category into</a:t>
            </a:r>
            <a:endParaRPr sz="1275" b="1" i="0">
              <a:solidFill>
                <a:srgbClr val="94A3B8"/>
              </a:solidFill>
            </a:endParaRPr>
          </a:p>
        </p:txBody>
      </p:sp>
      <p:sp>
        <p:nvSpPr>
          <p:cNvPr id="20" name="shape-104"/>
          <p:cNvSpPr>
            <a:spLocks noGrp="1"/>
          </p:cNvSpPr>
          <p:nvPr/>
        </p:nvSpPr>
        <p:spPr>
          <a:xfrm>
            <a:off x="6915150" y="36004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1" name="shape-105"/>
          <p:cNvSpPr>
            <a:spLocks noGrp="1"/>
          </p:cNvSpPr>
          <p:nvPr/>
        </p:nvSpPr>
        <p:spPr>
          <a:xfrm>
            <a:off x="7162800" y="35242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Recommended intervention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2" name="shape-106"/>
          <p:cNvSpPr>
            <a:spLocks noGrp="1"/>
          </p:cNvSpPr>
          <p:nvPr/>
        </p:nvSpPr>
        <p:spPr>
          <a:xfrm>
            <a:off x="6915150" y="3971925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3" name="shape-107"/>
          <p:cNvSpPr>
            <a:spLocks noGrp="1"/>
          </p:cNvSpPr>
          <p:nvPr/>
        </p:nvSpPr>
        <p:spPr>
          <a:xfrm>
            <a:off x="7162800" y="38957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Safety actions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4" name="shape-108"/>
          <p:cNvSpPr>
            <a:spLocks noGrp="1"/>
          </p:cNvSpPr>
          <p:nvPr/>
        </p:nvSpPr>
        <p:spPr>
          <a:xfrm>
            <a:off x="6915150" y="43434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5" name="shape-109"/>
          <p:cNvSpPr>
            <a:spLocks noGrp="1"/>
          </p:cNvSpPr>
          <p:nvPr/>
        </p:nvSpPr>
        <p:spPr>
          <a:xfrm>
            <a:off x="7162800" y="42672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Escalation guidance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6" name="shape-110"/>
          <p:cNvSpPr>
            <a:spLocks noGrp="1"/>
          </p:cNvSpPr>
          <p:nvPr/>
        </p:nvSpPr>
        <p:spPr>
          <a:xfrm>
            <a:off x="6915150" y="4714875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7" name="shape-111"/>
          <p:cNvSpPr>
            <a:spLocks noGrp="1"/>
          </p:cNvSpPr>
          <p:nvPr/>
        </p:nvSpPr>
        <p:spPr>
          <a:xfrm>
            <a:off x="7162800" y="46386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Specialty crew types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8" name="shape-112"/>
          <p:cNvSpPr>
            <a:spLocks noGrp="1"/>
          </p:cNvSpPr>
          <p:nvPr/>
        </p:nvSpPr>
        <p:spPr>
          <a:xfrm>
            <a:off x="3143250" y="5619750"/>
            <a:ext cx="3714750" cy="3048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021"/>
                </a:solidFill>
              </a:defRPr>
            </a:pPr>
            <a:r>
              <a:rPr sz="1050" b="1">
                <a:solidFill>
                  <a:srgbClr val="0B1021"/>
                </a:solidFill>
              </a:rPr>
              <a:t>MANUAL REVIEW WHEN CONFIDENCE IS LOW</a:t>
            </a:r>
            <a:endParaRPr sz="1050" b="1">
              <a:solidFill>
                <a:srgbClr val="0B1021"/>
              </a:solidFill>
            </a:endParaRPr>
          </a:p>
        </p:txBody>
      </p:sp>
      <p:sp>
        <p:nvSpPr>
          <p:cNvPr id="29" name="shape-113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05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30" name="shape-114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shape-115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OPERATIONS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116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The admin sees the whole chain, not just a label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117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Every issue carries evidence, routing guidance, crew availability, and a controlled lifecycle.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118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119"/>
          <p:cNvSpPr>
            <a:spLocks noGrp="1"/>
          </p:cNvSpPr>
          <p:nvPr/>
        </p:nvSpPr>
        <p:spPr>
          <a:xfrm>
            <a:off x="857250" y="2095500"/>
            <a:ext cx="10287000" cy="1066800"/>
          </a:xfrm>
          <a:prstGeom prst="roundRect">
            <a:avLst>
              <a:gd name="adj" fmla="val 14286"/>
            </a:avLst>
          </a:prstGeom>
          <a:solidFill>
            <a:srgbClr val="151F4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-120"/>
          <p:cNvSpPr>
            <a:spLocks noGrp="1"/>
          </p:cNvSpPr>
          <p:nvPr/>
        </p:nvSpPr>
        <p:spPr>
          <a:xfrm>
            <a:off x="1143000" y="23241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8FAFC"/>
                </a:solidFill>
              </a:defRPr>
            </a:pPr>
            <a:r>
              <a:rPr sz="1650" b="1" i="0">
                <a:solidFill>
                  <a:srgbClr val="F8FAFC"/>
                </a:solidFill>
              </a:rPr>
              <a:t>Issue card</a:t>
            </a:r>
            <a:endParaRPr sz="1650" b="1" i="0">
              <a:solidFill>
                <a:srgbClr val="F8FAFC"/>
              </a:solidFill>
            </a:endParaRPr>
          </a:p>
        </p:txBody>
      </p:sp>
      <p:sp>
        <p:nvSpPr>
          <p:cNvPr id="7" name="shape-121"/>
          <p:cNvSpPr>
            <a:spLocks noGrp="1"/>
          </p:cNvSpPr>
          <p:nvPr/>
        </p:nvSpPr>
        <p:spPr>
          <a:xfrm>
            <a:off x="3048000" y="2305050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B1021"/>
                </a:solidFill>
              </a:defRPr>
            </a:pPr>
            <a:r>
              <a:rPr sz="1050" b="1">
                <a:solidFill>
                  <a:srgbClr val="0B1021"/>
                </a:solidFill>
              </a:rPr>
              <a:t>E-WASTE</a:t>
            </a:r>
            <a:endParaRPr sz="1050" b="1">
              <a:solidFill>
                <a:srgbClr val="0B1021"/>
              </a:solidFill>
            </a:endParaRPr>
          </a:p>
        </p:txBody>
      </p:sp>
      <p:sp>
        <p:nvSpPr>
          <p:cNvPr id="8" name="shape-122"/>
          <p:cNvSpPr>
            <a:spLocks noGrp="1"/>
          </p:cNvSpPr>
          <p:nvPr/>
        </p:nvSpPr>
        <p:spPr>
          <a:xfrm>
            <a:off x="4238625" y="2305050"/>
            <a:ext cx="1314450" cy="3048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SEVERITY 72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shape-123"/>
          <p:cNvSpPr>
            <a:spLocks noGrp="1"/>
          </p:cNvSpPr>
          <p:nvPr/>
        </p:nvSpPr>
        <p:spPr>
          <a:xfrm>
            <a:off x="1143000" y="2781300"/>
            <a:ext cx="838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NVIDIA explanation · playbook actions · available matching crew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10" name="shape-124"/>
          <p:cNvSpPr>
            <a:spLocks noGrp="1"/>
          </p:cNvSpPr>
          <p:nvPr/>
        </p:nvSpPr>
        <p:spPr>
          <a:xfrm>
            <a:off x="1123950" y="4095750"/>
            <a:ext cx="400050" cy="40005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1" name="shape-125"/>
          <p:cNvSpPr>
            <a:spLocks noGrp="1"/>
          </p:cNvSpPr>
          <p:nvPr/>
        </p:nvSpPr>
        <p:spPr>
          <a:xfrm>
            <a:off x="1123950" y="4200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0B1021"/>
                </a:solidFill>
              </a:defRPr>
            </a:pPr>
            <a:r>
              <a:rPr sz="1125" b="1" i="0">
                <a:solidFill>
                  <a:srgbClr val="0B1021"/>
                </a:solidFill>
              </a:rPr>
              <a:t>1</a:t>
            </a:r>
            <a:endParaRPr sz="1125" b="1" i="0">
              <a:solidFill>
                <a:srgbClr val="0B1021"/>
              </a:solidFill>
            </a:endParaRPr>
          </a:p>
        </p:txBody>
      </p:sp>
      <p:sp>
        <p:nvSpPr>
          <p:cNvPr id="12" name="shape-126"/>
          <p:cNvSpPr>
            <a:spLocks noGrp="1"/>
          </p:cNvSpPr>
          <p:nvPr/>
        </p:nvSpPr>
        <p:spPr>
          <a:xfrm>
            <a:off x="857250" y="4648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CBD5E1"/>
                </a:solidFill>
              </a:defRPr>
            </a:pPr>
            <a:r>
              <a:rPr sz="1275" b="1" i="0">
                <a:solidFill>
                  <a:srgbClr val="CBD5E1"/>
                </a:solidFill>
              </a:rPr>
              <a:t>analyzed</a:t>
            </a:r>
            <a:endParaRPr sz="1275" b="1" i="0">
              <a:solidFill>
                <a:srgbClr val="CBD5E1"/>
              </a:solidFill>
            </a:endParaRPr>
          </a:p>
        </p:txBody>
      </p:sp>
      <p:sp>
        <p:nvSpPr>
          <p:cNvPr id="13" name="shape-127"/>
          <p:cNvSpPr>
            <a:spLocks noGrp="1"/>
          </p:cNvSpPr>
          <p:nvPr/>
        </p:nvSpPr>
        <p:spPr>
          <a:xfrm>
            <a:off x="1733550" y="4181475"/>
            <a:ext cx="9525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4" name="shape-128"/>
          <p:cNvSpPr>
            <a:spLocks noGrp="1"/>
          </p:cNvSpPr>
          <p:nvPr/>
        </p:nvSpPr>
        <p:spPr>
          <a:xfrm>
            <a:off x="3067050" y="4095750"/>
            <a:ext cx="400050" cy="4000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5" name="shape-129"/>
          <p:cNvSpPr>
            <a:spLocks noGrp="1"/>
          </p:cNvSpPr>
          <p:nvPr/>
        </p:nvSpPr>
        <p:spPr>
          <a:xfrm>
            <a:off x="3067050" y="4200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0B1021"/>
                </a:solidFill>
              </a:defRPr>
            </a:pPr>
            <a:r>
              <a:rPr sz="1125" b="1" i="0">
                <a:solidFill>
                  <a:srgbClr val="0B1021"/>
                </a:solidFill>
              </a:rPr>
              <a:t>2</a:t>
            </a:r>
            <a:endParaRPr sz="1125" b="1" i="0">
              <a:solidFill>
                <a:srgbClr val="0B1021"/>
              </a:solidFill>
            </a:endParaRPr>
          </a:p>
        </p:txBody>
      </p:sp>
      <p:sp>
        <p:nvSpPr>
          <p:cNvPr id="16" name="shape-130"/>
          <p:cNvSpPr>
            <a:spLocks noGrp="1"/>
          </p:cNvSpPr>
          <p:nvPr/>
        </p:nvSpPr>
        <p:spPr>
          <a:xfrm>
            <a:off x="2800350" y="4648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CBD5E1"/>
                </a:solidFill>
              </a:defRPr>
            </a:pPr>
            <a:r>
              <a:rPr sz="1275" b="1" i="0">
                <a:solidFill>
                  <a:srgbClr val="CBD5E1"/>
                </a:solidFill>
              </a:rPr>
              <a:t>assigned</a:t>
            </a:r>
            <a:endParaRPr sz="1275" b="1" i="0">
              <a:solidFill>
                <a:srgbClr val="CBD5E1"/>
              </a:solidFill>
            </a:endParaRPr>
          </a:p>
        </p:txBody>
      </p:sp>
      <p:sp>
        <p:nvSpPr>
          <p:cNvPr id="17" name="shape-131"/>
          <p:cNvSpPr>
            <a:spLocks noGrp="1"/>
          </p:cNvSpPr>
          <p:nvPr/>
        </p:nvSpPr>
        <p:spPr>
          <a:xfrm>
            <a:off x="3676650" y="4181475"/>
            <a:ext cx="9525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8" name="shape-132"/>
          <p:cNvSpPr>
            <a:spLocks noGrp="1"/>
          </p:cNvSpPr>
          <p:nvPr/>
        </p:nvSpPr>
        <p:spPr>
          <a:xfrm>
            <a:off x="5010150" y="4095750"/>
            <a:ext cx="400050" cy="4000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9" name="shape-133"/>
          <p:cNvSpPr>
            <a:spLocks noGrp="1"/>
          </p:cNvSpPr>
          <p:nvPr/>
        </p:nvSpPr>
        <p:spPr>
          <a:xfrm>
            <a:off x="5010150" y="4200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0B1021"/>
                </a:solidFill>
              </a:defRPr>
            </a:pPr>
            <a:r>
              <a:rPr sz="1125" b="1" i="0">
                <a:solidFill>
                  <a:srgbClr val="0B1021"/>
                </a:solidFill>
              </a:rPr>
              <a:t>3</a:t>
            </a:r>
            <a:endParaRPr sz="1125" b="1" i="0">
              <a:solidFill>
                <a:srgbClr val="0B1021"/>
              </a:solidFill>
            </a:endParaRPr>
          </a:p>
        </p:txBody>
      </p:sp>
      <p:sp>
        <p:nvSpPr>
          <p:cNvPr id="20" name="shape-134"/>
          <p:cNvSpPr>
            <a:spLocks noGrp="1"/>
          </p:cNvSpPr>
          <p:nvPr/>
        </p:nvSpPr>
        <p:spPr>
          <a:xfrm>
            <a:off x="4743450" y="4648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CBD5E1"/>
                </a:solidFill>
              </a:defRPr>
            </a:pPr>
            <a:r>
              <a:rPr sz="1275" b="1" i="0">
                <a:solidFill>
                  <a:srgbClr val="CBD5E1"/>
                </a:solidFill>
              </a:rPr>
              <a:t>en_route</a:t>
            </a:r>
            <a:endParaRPr sz="1275" b="1" i="0">
              <a:solidFill>
                <a:srgbClr val="CBD5E1"/>
              </a:solidFill>
            </a:endParaRPr>
          </a:p>
        </p:txBody>
      </p:sp>
      <p:sp>
        <p:nvSpPr>
          <p:cNvPr id="21" name="shape-135"/>
          <p:cNvSpPr>
            <a:spLocks noGrp="1"/>
          </p:cNvSpPr>
          <p:nvPr/>
        </p:nvSpPr>
        <p:spPr>
          <a:xfrm>
            <a:off x="5619750" y="4181475"/>
            <a:ext cx="9525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2" name="shape-136"/>
          <p:cNvSpPr>
            <a:spLocks noGrp="1"/>
          </p:cNvSpPr>
          <p:nvPr/>
        </p:nvSpPr>
        <p:spPr>
          <a:xfrm>
            <a:off x="6953250" y="4095750"/>
            <a:ext cx="400050" cy="40005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23" name="shape-137"/>
          <p:cNvSpPr>
            <a:spLocks noGrp="1"/>
          </p:cNvSpPr>
          <p:nvPr/>
        </p:nvSpPr>
        <p:spPr>
          <a:xfrm>
            <a:off x="6953250" y="4200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0B1021"/>
                </a:solidFill>
              </a:defRPr>
            </a:pPr>
            <a:r>
              <a:rPr sz="1125" b="1" i="0">
                <a:solidFill>
                  <a:srgbClr val="0B1021"/>
                </a:solidFill>
              </a:rPr>
              <a:t>4</a:t>
            </a:r>
            <a:endParaRPr sz="1125" b="1" i="0">
              <a:solidFill>
                <a:srgbClr val="0B1021"/>
              </a:solidFill>
            </a:endParaRPr>
          </a:p>
        </p:txBody>
      </p:sp>
      <p:sp>
        <p:nvSpPr>
          <p:cNvPr id="24" name="shape-138"/>
          <p:cNvSpPr>
            <a:spLocks noGrp="1"/>
          </p:cNvSpPr>
          <p:nvPr/>
        </p:nvSpPr>
        <p:spPr>
          <a:xfrm>
            <a:off x="6686550" y="4648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CBD5E1"/>
                </a:solidFill>
              </a:defRPr>
            </a:pPr>
            <a:r>
              <a:rPr sz="1275" b="1" i="0">
                <a:solidFill>
                  <a:srgbClr val="CBD5E1"/>
                </a:solidFill>
              </a:rPr>
              <a:t>on_site</a:t>
            </a:r>
            <a:endParaRPr sz="1275" b="1" i="0">
              <a:solidFill>
                <a:srgbClr val="CBD5E1"/>
              </a:solidFill>
            </a:endParaRPr>
          </a:p>
        </p:txBody>
      </p:sp>
      <p:sp>
        <p:nvSpPr>
          <p:cNvPr id="25" name="shape-139"/>
          <p:cNvSpPr>
            <a:spLocks noGrp="1"/>
          </p:cNvSpPr>
          <p:nvPr/>
        </p:nvSpPr>
        <p:spPr>
          <a:xfrm>
            <a:off x="7562850" y="4181475"/>
            <a:ext cx="9525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6" name="shape-140"/>
          <p:cNvSpPr>
            <a:spLocks noGrp="1"/>
          </p:cNvSpPr>
          <p:nvPr/>
        </p:nvSpPr>
        <p:spPr>
          <a:xfrm>
            <a:off x="8896350" y="4095750"/>
            <a:ext cx="400050" cy="400050"/>
          </a:xfrm>
          <a:prstGeom prst="ellipse">
            <a:avLst/>
          </a:prstGeom>
          <a:solidFill>
            <a:srgbClr val="86EFAC"/>
          </a:solidFill>
          <a:ln w="0">
            <a:noFill/>
            <a:prstDash val="solid"/>
          </a:ln>
        </p:spPr>
      </p:sp>
      <p:sp>
        <p:nvSpPr>
          <p:cNvPr id="27" name="shape-141"/>
          <p:cNvSpPr>
            <a:spLocks noGrp="1"/>
          </p:cNvSpPr>
          <p:nvPr/>
        </p:nvSpPr>
        <p:spPr>
          <a:xfrm>
            <a:off x="8896350" y="42005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0B1021"/>
                </a:solidFill>
              </a:defRPr>
            </a:pPr>
            <a:r>
              <a:rPr sz="1125" b="1" i="0">
                <a:solidFill>
                  <a:srgbClr val="0B1021"/>
                </a:solidFill>
              </a:rPr>
              <a:t>5</a:t>
            </a:r>
            <a:endParaRPr sz="1125" b="1" i="0">
              <a:solidFill>
                <a:srgbClr val="0B1021"/>
              </a:solidFill>
            </a:endParaRPr>
          </a:p>
        </p:txBody>
      </p:sp>
      <p:sp>
        <p:nvSpPr>
          <p:cNvPr id="28" name="shape-142"/>
          <p:cNvSpPr>
            <a:spLocks noGrp="1"/>
          </p:cNvSpPr>
          <p:nvPr/>
        </p:nvSpPr>
        <p:spPr>
          <a:xfrm>
            <a:off x="8629650" y="4648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CBD5E1"/>
                </a:solidFill>
              </a:defRPr>
            </a:pPr>
            <a:r>
              <a:rPr sz="1275" b="1" i="0">
                <a:solidFill>
                  <a:srgbClr val="CBD5E1"/>
                </a:solidFill>
              </a:rPr>
              <a:t>resolved</a:t>
            </a:r>
            <a:endParaRPr sz="1275" b="1" i="0">
              <a:solidFill>
                <a:srgbClr val="CBD5E1"/>
              </a:solidFill>
            </a:endParaRPr>
          </a:p>
        </p:txBody>
      </p:sp>
      <p:sp>
        <p:nvSpPr>
          <p:cNvPr id="29" name="shape-143"/>
          <p:cNvSpPr>
            <a:spLocks noGrp="1"/>
          </p:cNvSpPr>
          <p:nvPr/>
        </p:nvSpPr>
        <p:spPr>
          <a:xfrm>
            <a:off x="1123950" y="5476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86EFAC"/>
                </a:solidFill>
              </a:defRPr>
            </a:pPr>
            <a:r>
              <a:rPr sz="1725" b="1" i="0">
                <a:solidFill>
                  <a:srgbClr val="86EFAC"/>
                </a:solidFill>
              </a:rPr>
              <a:t>Assignment marks the crew busy; resolution releases it automatically.</a:t>
            </a:r>
            <a:endParaRPr sz="1725" b="1" i="0">
              <a:solidFill>
                <a:srgbClr val="86EFAC"/>
              </a:solidFill>
            </a:endParaRPr>
          </a:p>
        </p:txBody>
      </p:sp>
      <p:sp>
        <p:nvSpPr>
          <p:cNvPr id="30" name="shape-144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06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31" name="shape-145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shape-146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TECHNOLOGY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147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Simple stack, clear boundaries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148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The prototype minimizes infrastructure while keeping the decision path explainable.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149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150"/>
          <p:cNvSpPr>
            <a:spLocks noGrp="1"/>
          </p:cNvSpPr>
          <p:nvPr/>
        </p:nvSpPr>
        <p:spPr>
          <a:xfrm>
            <a:off x="762000" y="2333625"/>
            <a:ext cx="2266950" cy="2762250"/>
          </a:xfrm>
          <a:prstGeom prst="roundRect">
            <a:avLst>
              <a:gd name="adj" fmla="val 6723"/>
            </a:avLst>
          </a:prstGeom>
          <a:solidFill>
            <a:srgbClr val="151F4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shape-151"/>
          <p:cNvSpPr>
            <a:spLocks noGrp="1"/>
          </p:cNvSpPr>
          <p:nvPr/>
        </p:nvSpPr>
        <p:spPr>
          <a:xfrm>
            <a:off x="990600" y="2647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2D3EE"/>
                </a:solidFill>
              </a:defRPr>
            </a:pPr>
            <a:r>
              <a:rPr sz="1875" b="1" i="0">
                <a:solidFill>
                  <a:srgbClr val="22D3EE"/>
                </a:solidFill>
              </a:rPr>
              <a:t>Mobile</a:t>
            </a:r>
            <a:endParaRPr sz="1875" b="1" i="0">
              <a:solidFill>
                <a:srgbClr val="22D3EE"/>
              </a:solidFill>
            </a:endParaRPr>
          </a:p>
        </p:txBody>
      </p:sp>
      <p:sp>
        <p:nvSpPr>
          <p:cNvPr id="7" name="shape-152"/>
          <p:cNvSpPr>
            <a:spLocks noGrp="1"/>
          </p:cNvSpPr>
          <p:nvPr/>
        </p:nvSpPr>
        <p:spPr>
          <a:xfrm>
            <a:off x="1009650" y="3276600"/>
            <a:ext cx="76200" cy="762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8" name="shape-153"/>
          <p:cNvSpPr>
            <a:spLocks noGrp="1"/>
          </p:cNvSpPr>
          <p:nvPr/>
        </p:nvSpPr>
        <p:spPr>
          <a:xfrm>
            <a:off x="1219200" y="3162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Expo SDK 54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9" name="shape-154"/>
          <p:cNvSpPr>
            <a:spLocks noGrp="1"/>
          </p:cNvSpPr>
          <p:nvPr/>
        </p:nvSpPr>
        <p:spPr>
          <a:xfrm>
            <a:off x="1009650" y="3676650"/>
            <a:ext cx="76200" cy="762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0" name="shape-155"/>
          <p:cNvSpPr>
            <a:spLocks noGrp="1"/>
          </p:cNvSpPr>
          <p:nvPr/>
        </p:nvSpPr>
        <p:spPr>
          <a:xfrm>
            <a:off x="1219200" y="35623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React Native 0.81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11" name="shape-156"/>
          <p:cNvSpPr>
            <a:spLocks noGrp="1"/>
          </p:cNvSpPr>
          <p:nvPr/>
        </p:nvSpPr>
        <p:spPr>
          <a:xfrm>
            <a:off x="1009650" y="4076700"/>
            <a:ext cx="76200" cy="762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2" name="shape-157"/>
          <p:cNvSpPr>
            <a:spLocks noGrp="1"/>
          </p:cNvSpPr>
          <p:nvPr/>
        </p:nvSpPr>
        <p:spPr>
          <a:xfrm>
            <a:off x="1219200" y="3962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TypeScript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13" name="shape-158"/>
          <p:cNvSpPr>
            <a:spLocks noGrp="1"/>
          </p:cNvSpPr>
          <p:nvPr/>
        </p:nvSpPr>
        <p:spPr>
          <a:xfrm>
            <a:off x="1009650" y="4476750"/>
            <a:ext cx="76200" cy="762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4" name="shape-159"/>
          <p:cNvSpPr>
            <a:spLocks noGrp="1"/>
          </p:cNvSpPr>
          <p:nvPr/>
        </p:nvSpPr>
        <p:spPr>
          <a:xfrm>
            <a:off x="1219200" y="43624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ImagePicker + Location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15" name="shape-160"/>
          <p:cNvSpPr>
            <a:spLocks noGrp="1"/>
          </p:cNvSpPr>
          <p:nvPr/>
        </p:nvSpPr>
        <p:spPr>
          <a:xfrm>
            <a:off x="3448050" y="2333625"/>
            <a:ext cx="2266950" cy="2762250"/>
          </a:xfrm>
          <a:prstGeom prst="roundRect">
            <a:avLst>
              <a:gd name="adj" fmla="val 6723"/>
            </a:avLst>
          </a:prstGeom>
          <a:solidFill>
            <a:srgbClr val="151F4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6" name="shape-161"/>
          <p:cNvSpPr>
            <a:spLocks noGrp="1"/>
          </p:cNvSpPr>
          <p:nvPr/>
        </p:nvSpPr>
        <p:spPr>
          <a:xfrm>
            <a:off x="3676650" y="2647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A855F7"/>
                </a:solidFill>
              </a:defRPr>
            </a:pPr>
            <a:r>
              <a:rPr sz="1875" b="1" i="0">
                <a:solidFill>
                  <a:srgbClr val="A855F7"/>
                </a:solidFill>
              </a:rPr>
              <a:t>Backend</a:t>
            </a:r>
            <a:endParaRPr sz="1875" b="1" i="0">
              <a:solidFill>
                <a:srgbClr val="A855F7"/>
              </a:solidFill>
            </a:endParaRPr>
          </a:p>
        </p:txBody>
      </p:sp>
      <p:sp>
        <p:nvSpPr>
          <p:cNvPr id="17" name="shape-162"/>
          <p:cNvSpPr>
            <a:spLocks noGrp="1"/>
          </p:cNvSpPr>
          <p:nvPr/>
        </p:nvSpPr>
        <p:spPr>
          <a:xfrm>
            <a:off x="3695700" y="3276600"/>
            <a:ext cx="76200" cy="762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8" name="shape-163"/>
          <p:cNvSpPr>
            <a:spLocks noGrp="1"/>
          </p:cNvSpPr>
          <p:nvPr/>
        </p:nvSpPr>
        <p:spPr>
          <a:xfrm>
            <a:off x="3905250" y="3162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Node.js 22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19" name="shape-164"/>
          <p:cNvSpPr>
            <a:spLocks noGrp="1"/>
          </p:cNvSpPr>
          <p:nvPr/>
        </p:nvSpPr>
        <p:spPr>
          <a:xfrm>
            <a:off x="3695700" y="3676650"/>
            <a:ext cx="76200" cy="762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0" name="shape-165"/>
          <p:cNvSpPr>
            <a:spLocks noGrp="1"/>
          </p:cNvSpPr>
          <p:nvPr/>
        </p:nvSpPr>
        <p:spPr>
          <a:xfrm>
            <a:off x="3905250" y="35623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Express + TypeScript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21" name="shape-166"/>
          <p:cNvSpPr>
            <a:spLocks noGrp="1"/>
          </p:cNvSpPr>
          <p:nvPr/>
        </p:nvSpPr>
        <p:spPr>
          <a:xfrm>
            <a:off x="3695700" y="4076700"/>
            <a:ext cx="76200" cy="762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2" name="shape-167"/>
          <p:cNvSpPr>
            <a:spLocks noGrp="1"/>
          </p:cNvSpPr>
          <p:nvPr/>
        </p:nvSpPr>
        <p:spPr>
          <a:xfrm>
            <a:off x="3905250" y="3962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Zod validation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23" name="shape-168"/>
          <p:cNvSpPr>
            <a:spLocks noGrp="1"/>
          </p:cNvSpPr>
          <p:nvPr/>
        </p:nvSpPr>
        <p:spPr>
          <a:xfrm>
            <a:off x="3695700" y="4476750"/>
            <a:ext cx="76200" cy="762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4" name="shape-169"/>
          <p:cNvSpPr>
            <a:spLocks noGrp="1"/>
          </p:cNvSpPr>
          <p:nvPr/>
        </p:nvSpPr>
        <p:spPr>
          <a:xfrm>
            <a:off x="3905250" y="43624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JWT + bcryptjs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25" name="shape-170"/>
          <p:cNvSpPr>
            <a:spLocks noGrp="1"/>
          </p:cNvSpPr>
          <p:nvPr/>
        </p:nvSpPr>
        <p:spPr>
          <a:xfrm>
            <a:off x="6134100" y="2333625"/>
            <a:ext cx="2266950" cy="2762250"/>
          </a:xfrm>
          <a:prstGeom prst="roundRect">
            <a:avLst>
              <a:gd name="adj" fmla="val 6723"/>
            </a:avLst>
          </a:prstGeom>
          <a:solidFill>
            <a:srgbClr val="151F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6" name="shape-171"/>
          <p:cNvSpPr>
            <a:spLocks noGrp="1"/>
          </p:cNvSpPr>
          <p:nvPr/>
        </p:nvSpPr>
        <p:spPr>
          <a:xfrm>
            <a:off x="6362700" y="2647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DD4BF"/>
                </a:solidFill>
              </a:defRPr>
            </a:pPr>
            <a:r>
              <a:rPr sz="1875" b="1" i="0">
                <a:solidFill>
                  <a:srgbClr val="2DD4BF"/>
                </a:solidFill>
              </a:rPr>
              <a:t>Intelligence</a:t>
            </a:r>
            <a:endParaRPr sz="1875" b="1" i="0">
              <a:solidFill>
                <a:srgbClr val="2DD4BF"/>
              </a:solidFill>
            </a:endParaRPr>
          </a:p>
        </p:txBody>
      </p:sp>
      <p:sp>
        <p:nvSpPr>
          <p:cNvPr id="27" name="shape-172"/>
          <p:cNvSpPr>
            <a:spLocks noGrp="1"/>
          </p:cNvSpPr>
          <p:nvPr/>
        </p:nvSpPr>
        <p:spPr>
          <a:xfrm>
            <a:off x="6381750" y="3276600"/>
            <a:ext cx="76200" cy="76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28" name="shape-173"/>
          <p:cNvSpPr>
            <a:spLocks noGrp="1"/>
          </p:cNvSpPr>
          <p:nvPr/>
        </p:nvSpPr>
        <p:spPr>
          <a:xfrm>
            <a:off x="6591300" y="3162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NVIDIA Vision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29" name="shape-174"/>
          <p:cNvSpPr>
            <a:spLocks noGrp="1"/>
          </p:cNvSpPr>
          <p:nvPr/>
        </p:nvSpPr>
        <p:spPr>
          <a:xfrm>
            <a:off x="6381750" y="3676650"/>
            <a:ext cx="76200" cy="76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30" name="shape-175"/>
          <p:cNvSpPr>
            <a:spLocks noGrp="1"/>
          </p:cNvSpPr>
          <p:nvPr/>
        </p:nvSpPr>
        <p:spPr>
          <a:xfrm>
            <a:off x="6591300" y="35623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Sharp fallback signal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31" name="shape-176"/>
          <p:cNvSpPr>
            <a:spLocks noGrp="1"/>
          </p:cNvSpPr>
          <p:nvPr/>
        </p:nvSpPr>
        <p:spPr>
          <a:xfrm>
            <a:off x="6381750" y="4076700"/>
            <a:ext cx="76200" cy="76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32" name="shape-177"/>
          <p:cNvSpPr>
            <a:spLocks noGrp="1"/>
          </p:cNvSpPr>
          <p:nvPr/>
        </p:nvSpPr>
        <p:spPr>
          <a:xfrm>
            <a:off x="6591300" y="3962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Waste playbook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33" name="shape-178"/>
          <p:cNvSpPr>
            <a:spLocks noGrp="1"/>
          </p:cNvSpPr>
          <p:nvPr/>
        </p:nvSpPr>
        <p:spPr>
          <a:xfrm>
            <a:off x="6381750" y="4476750"/>
            <a:ext cx="76200" cy="762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34" name="shape-179"/>
          <p:cNvSpPr>
            <a:spLocks noGrp="1"/>
          </p:cNvSpPr>
          <p:nvPr/>
        </p:nvSpPr>
        <p:spPr>
          <a:xfrm>
            <a:off x="6591300" y="43624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Crew + ETA rules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35" name="shape-180"/>
          <p:cNvSpPr>
            <a:spLocks noGrp="1"/>
          </p:cNvSpPr>
          <p:nvPr/>
        </p:nvSpPr>
        <p:spPr>
          <a:xfrm>
            <a:off x="8820150" y="2333625"/>
            <a:ext cx="2266950" cy="2762250"/>
          </a:xfrm>
          <a:prstGeom prst="roundRect">
            <a:avLst>
              <a:gd name="adj" fmla="val 6723"/>
            </a:avLst>
          </a:prstGeom>
          <a:solidFill>
            <a:srgbClr val="151F4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6" name="shape-181"/>
          <p:cNvSpPr>
            <a:spLocks noGrp="1"/>
          </p:cNvSpPr>
          <p:nvPr/>
        </p:nvSpPr>
        <p:spPr>
          <a:xfrm>
            <a:off x="9048750" y="2647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BBF24"/>
                </a:solidFill>
              </a:defRPr>
            </a:pPr>
            <a:r>
              <a:rPr sz="1875" b="1" i="0">
                <a:solidFill>
                  <a:srgbClr val="FBBF24"/>
                </a:solidFill>
              </a:rPr>
              <a:t>Data + delivery</a:t>
            </a:r>
            <a:endParaRPr sz="1875" b="1" i="0">
              <a:solidFill>
                <a:srgbClr val="FBBF24"/>
              </a:solidFill>
            </a:endParaRPr>
          </a:p>
        </p:txBody>
      </p:sp>
      <p:sp>
        <p:nvSpPr>
          <p:cNvPr id="37" name="shape-182"/>
          <p:cNvSpPr>
            <a:spLocks noGrp="1"/>
          </p:cNvSpPr>
          <p:nvPr/>
        </p:nvSpPr>
        <p:spPr>
          <a:xfrm>
            <a:off x="9067800" y="3276600"/>
            <a:ext cx="76200" cy="762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38" name="shape-183"/>
          <p:cNvSpPr>
            <a:spLocks noGrp="1"/>
          </p:cNvSpPr>
          <p:nvPr/>
        </p:nvSpPr>
        <p:spPr>
          <a:xfrm>
            <a:off x="9277350" y="3162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Atomic JSON store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39" name="shape-184"/>
          <p:cNvSpPr>
            <a:spLocks noGrp="1"/>
          </p:cNvSpPr>
          <p:nvPr/>
        </p:nvSpPr>
        <p:spPr>
          <a:xfrm>
            <a:off x="9067800" y="3676650"/>
            <a:ext cx="76200" cy="762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40" name="shape-185"/>
          <p:cNvSpPr>
            <a:spLocks noGrp="1"/>
          </p:cNvSpPr>
          <p:nvPr/>
        </p:nvSpPr>
        <p:spPr>
          <a:xfrm>
            <a:off x="9277350" y="35623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Disk uploads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41" name="shape-186"/>
          <p:cNvSpPr>
            <a:spLocks noGrp="1"/>
          </p:cNvSpPr>
          <p:nvPr/>
        </p:nvSpPr>
        <p:spPr>
          <a:xfrm>
            <a:off x="9067800" y="4076700"/>
            <a:ext cx="76200" cy="762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42" name="shape-187"/>
          <p:cNvSpPr>
            <a:spLocks noGrp="1"/>
          </p:cNvSpPr>
          <p:nvPr/>
        </p:nvSpPr>
        <p:spPr>
          <a:xfrm>
            <a:off x="9277350" y="3962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Helmet + rate limit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43" name="shape-188"/>
          <p:cNvSpPr>
            <a:spLocks noGrp="1"/>
          </p:cNvSpPr>
          <p:nvPr/>
        </p:nvSpPr>
        <p:spPr>
          <a:xfrm>
            <a:off x="9067800" y="4476750"/>
            <a:ext cx="76200" cy="762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44" name="shape-189"/>
          <p:cNvSpPr>
            <a:spLocks noGrp="1"/>
          </p:cNvSpPr>
          <p:nvPr/>
        </p:nvSpPr>
        <p:spPr>
          <a:xfrm>
            <a:off x="9277350" y="43624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CBD5E1"/>
                </a:solidFill>
              </a:defRPr>
            </a:pPr>
            <a:r>
              <a:rPr sz="1350" b="0" i="0">
                <a:solidFill>
                  <a:srgbClr val="CBD5E1"/>
                </a:solidFill>
              </a:rPr>
              <a:t>Docker Compose</a:t>
            </a:r>
            <a:endParaRPr sz="1350" b="0" i="0">
              <a:solidFill>
                <a:srgbClr val="CBD5E1"/>
              </a:solidFill>
            </a:endParaRPr>
          </a:p>
        </p:txBody>
      </p:sp>
      <p:sp>
        <p:nvSpPr>
          <p:cNvPr id="45" name="shape-190"/>
          <p:cNvSpPr>
            <a:spLocks noGrp="1"/>
          </p:cNvSpPr>
          <p:nvPr/>
        </p:nvSpPr>
        <p:spPr>
          <a:xfrm>
            <a:off x="838200" y="56388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86EFAC"/>
                </a:solidFill>
              </a:defRPr>
            </a:pPr>
            <a:r>
              <a:rPr sz="1650" b="1" i="0">
                <a:solidFill>
                  <a:srgbClr val="86EFAC"/>
                </a:solidFill>
              </a:rPr>
              <a:t>Designed to be demoable on a laptop and phone before it is scaled into a production platform.</a:t>
            </a:r>
            <a:endParaRPr sz="1650" b="1" i="0">
              <a:solidFill>
                <a:srgbClr val="86EFAC"/>
              </a:solidFill>
            </a:endParaRPr>
          </a:p>
        </p:txBody>
      </p:sp>
      <p:sp>
        <p:nvSpPr>
          <p:cNvPr id="46" name="shape-191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07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47" name="shape-192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shape-193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LIVE DEMO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194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The demo is a five-step loop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195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It shows the value in one pass: evidence comes in, action goes out, and the user can see progress.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196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197"/>
          <p:cNvSpPr>
            <a:spLocks noGrp="1"/>
          </p:cNvSpPr>
          <p:nvPr/>
        </p:nvSpPr>
        <p:spPr>
          <a:xfrm>
            <a:off x="609600" y="2571750"/>
            <a:ext cx="647700" cy="647700"/>
          </a:xfrm>
          <a:prstGeom prst="ellipse">
            <a:avLst/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6" name="shape-198"/>
          <p:cNvSpPr>
            <a:spLocks noGrp="1"/>
          </p:cNvSpPr>
          <p:nvPr/>
        </p:nvSpPr>
        <p:spPr>
          <a:xfrm>
            <a:off x="609600" y="27432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0B1021"/>
                </a:solidFill>
              </a:defRPr>
            </a:pPr>
            <a:r>
              <a:rPr sz="1725" b="1" i="0">
                <a:solidFill>
                  <a:srgbClr val="0B1021"/>
                </a:solidFill>
              </a:rPr>
              <a:t>1</a:t>
            </a:r>
            <a:endParaRPr sz="1725" b="1" i="0">
              <a:solidFill>
                <a:srgbClr val="0B1021"/>
              </a:solidFill>
            </a:endParaRPr>
          </a:p>
        </p:txBody>
      </p:sp>
      <p:sp>
        <p:nvSpPr>
          <p:cNvPr id="7" name="shape-199"/>
          <p:cNvSpPr>
            <a:spLocks noGrp="1"/>
          </p:cNvSpPr>
          <p:nvPr/>
        </p:nvSpPr>
        <p:spPr>
          <a:xfrm>
            <a:off x="133350" y="352425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Report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8" name="shape-200"/>
          <p:cNvSpPr>
            <a:spLocks noGrp="1"/>
          </p:cNvSpPr>
          <p:nvPr/>
        </p:nvSpPr>
        <p:spPr>
          <a:xfrm>
            <a:off x="-19050" y="39624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Citizen uploads photo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9" name="shape-201"/>
          <p:cNvSpPr>
            <a:spLocks noGrp="1"/>
          </p:cNvSpPr>
          <p:nvPr/>
        </p:nvSpPr>
        <p:spPr>
          <a:xfrm>
            <a:off x="1409700" y="2781300"/>
            <a:ext cx="10287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0" name="shape-202"/>
          <p:cNvSpPr>
            <a:spLocks noGrp="1"/>
          </p:cNvSpPr>
          <p:nvPr/>
        </p:nvSpPr>
        <p:spPr>
          <a:xfrm>
            <a:off x="2876550" y="2571750"/>
            <a:ext cx="647700" cy="64770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1" name="shape-203"/>
          <p:cNvSpPr>
            <a:spLocks noGrp="1"/>
          </p:cNvSpPr>
          <p:nvPr/>
        </p:nvSpPr>
        <p:spPr>
          <a:xfrm>
            <a:off x="2876550" y="27432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0B1021"/>
                </a:solidFill>
              </a:defRPr>
            </a:pPr>
            <a:r>
              <a:rPr sz="1725" b="1" i="0">
                <a:solidFill>
                  <a:srgbClr val="0B1021"/>
                </a:solidFill>
              </a:rPr>
              <a:t>2</a:t>
            </a:r>
            <a:endParaRPr sz="1725" b="1" i="0">
              <a:solidFill>
                <a:srgbClr val="0B1021"/>
              </a:solidFill>
            </a:endParaRPr>
          </a:p>
        </p:txBody>
      </p:sp>
      <p:sp>
        <p:nvSpPr>
          <p:cNvPr id="12" name="shape-204"/>
          <p:cNvSpPr>
            <a:spLocks noGrp="1"/>
          </p:cNvSpPr>
          <p:nvPr/>
        </p:nvSpPr>
        <p:spPr>
          <a:xfrm>
            <a:off x="2400300" y="352425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Analyze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13" name="shape-205"/>
          <p:cNvSpPr>
            <a:spLocks noGrp="1"/>
          </p:cNvSpPr>
          <p:nvPr/>
        </p:nvSpPr>
        <p:spPr>
          <a:xfrm>
            <a:off x="2247900" y="39624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Category + severity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4" name="shape-206"/>
          <p:cNvSpPr>
            <a:spLocks noGrp="1"/>
          </p:cNvSpPr>
          <p:nvPr/>
        </p:nvSpPr>
        <p:spPr>
          <a:xfrm>
            <a:off x="3676650" y="2781300"/>
            <a:ext cx="10287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shape-207"/>
          <p:cNvSpPr>
            <a:spLocks noGrp="1"/>
          </p:cNvSpPr>
          <p:nvPr/>
        </p:nvSpPr>
        <p:spPr>
          <a:xfrm>
            <a:off x="5143500" y="2571750"/>
            <a:ext cx="647700" cy="647700"/>
          </a:xfrm>
          <a:prstGeom prst="ellipse">
            <a:avLst/>
          </a:prstGeom>
          <a:solidFill>
            <a:srgbClr val="2DD4BF"/>
          </a:solidFill>
          <a:ln w="0">
            <a:noFill/>
            <a:prstDash val="solid"/>
          </a:ln>
        </p:spPr>
      </p:sp>
      <p:sp>
        <p:nvSpPr>
          <p:cNvPr id="16" name="shape-208"/>
          <p:cNvSpPr>
            <a:spLocks noGrp="1"/>
          </p:cNvSpPr>
          <p:nvPr/>
        </p:nvSpPr>
        <p:spPr>
          <a:xfrm>
            <a:off x="5143500" y="27432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0B1021"/>
                </a:solidFill>
              </a:defRPr>
            </a:pPr>
            <a:r>
              <a:rPr sz="1725" b="1" i="0">
                <a:solidFill>
                  <a:srgbClr val="0B1021"/>
                </a:solidFill>
              </a:rPr>
              <a:t>3</a:t>
            </a:r>
            <a:endParaRPr sz="1725" b="1" i="0">
              <a:solidFill>
                <a:srgbClr val="0B1021"/>
              </a:solidFill>
            </a:endParaRPr>
          </a:p>
        </p:txBody>
      </p:sp>
      <p:sp>
        <p:nvSpPr>
          <p:cNvPr id="17" name="shape-209"/>
          <p:cNvSpPr>
            <a:spLocks noGrp="1"/>
          </p:cNvSpPr>
          <p:nvPr/>
        </p:nvSpPr>
        <p:spPr>
          <a:xfrm>
            <a:off x="4667250" y="352425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Assign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18" name="shape-210"/>
          <p:cNvSpPr>
            <a:spLocks noGrp="1"/>
          </p:cNvSpPr>
          <p:nvPr/>
        </p:nvSpPr>
        <p:spPr>
          <a:xfrm>
            <a:off x="4514850" y="39624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Admin picks matching crew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19" name="shape-211"/>
          <p:cNvSpPr>
            <a:spLocks noGrp="1"/>
          </p:cNvSpPr>
          <p:nvPr/>
        </p:nvSpPr>
        <p:spPr>
          <a:xfrm>
            <a:off x="5943600" y="2781300"/>
            <a:ext cx="10287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0" name="shape-212"/>
          <p:cNvSpPr>
            <a:spLocks noGrp="1"/>
          </p:cNvSpPr>
          <p:nvPr/>
        </p:nvSpPr>
        <p:spPr>
          <a:xfrm>
            <a:off x="7410450" y="2571750"/>
            <a:ext cx="647700" cy="64770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21" name="shape-213"/>
          <p:cNvSpPr>
            <a:spLocks noGrp="1"/>
          </p:cNvSpPr>
          <p:nvPr/>
        </p:nvSpPr>
        <p:spPr>
          <a:xfrm>
            <a:off x="7410450" y="27432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0B1021"/>
                </a:solidFill>
              </a:defRPr>
            </a:pPr>
            <a:r>
              <a:rPr sz="1725" b="1" i="0">
                <a:solidFill>
                  <a:srgbClr val="0B1021"/>
                </a:solidFill>
              </a:rPr>
              <a:t>4</a:t>
            </a:r>
            <a:endParaRPr sz="1725" b="1" i="0">
              <a:solidFill>
                <a:srgbClr val="0B1021"/>
              </a:solidFill>
            </a:endParaRPr>
          </a:p>
        </p:txBody>
      </p:sp>
      <p:sp>
        <p:nvSpPr>
          <p:cNvPr id="22" name="shape-214"/>
          <p:cNvSpPr>
            <a:spLocks noGrp="1"/>
          </p:cNvSpPr>
          <p:nvPr/>
        </p:nvSpPr>
        <p:spPr>
          <a:xfrm>
            <a:off x="6934200" y="352425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Respond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23" name="shape-215"/>
          <p:cNvSpPr>
            <a:spLocks noGrp="1"/>
          </p:cNvSpPr>
          <p:nvPr/>
        </p:nvSpPr>
        <p:spPr>
          <a:xfrm>
            <a:off x="6781800" y="39624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Crew status advances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24" name="shape-216"/>
          <p:cNvSpPr>
            <a:spLocks noGrp="1"/>
          </p:cNvSpPr>
          <p:nvPr/>
        </p:nvSpPr>
        <p:spPr>
          <a:xfrm>
            <a:off x="8210550" y="2781300"/>
            <a:ext cx="1028700" cy="228600"/>
          </a:xfrm>
          <a:prstGeom prst="rightArrow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5" name="shape-217"/>
          <p:cNvSpPr>
            <a:spLocks noGrp="1"/>
          </p:cNvSpPr>
          <p:nvPr/>
        </p:nvSpPr>
        <p:spPr>
          <a:xfrm>
            <a:off x="9677400" y="2571750"/>
            <a:ext cx="647700" cy="647700"/>
          </a:xfrm>
          <a:prstGeom prst="ellipse">
            <a:avLst/>
          </a:prstGeom>
          <a:solidFill>
            <a:srgbClr val="86EFAC"/>
          </a:solidFill>
          <a:ln w="0">
            <a:noFill/>
            <a:prstDash val="solid"/>
          </a:ln>
        </p:spPr>
      </p:sp>
      <p:sp>
        <p:nvSpPr>
          <p:cNvPr id="26" name="shape-218"/>
          <p:cNvSpPr>
            <a:spLocks noGrp="1"/>
          </p:cNvSpPr>
          <p:nvPr/>
        </p:nvSpPr>
        <p:spPr>
          <a:xfrm>
            <a:off x="9677400" y="2743200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0B1021"/>
                </a:solidFill>
              </a:defRPr>
            </a:pPr>
            <a:r>
              <a:rPr sz="1725" b="1" i="0">
                <a:solidFill>
                  <a:srgbClr val="0B1021"/>
                </a:solidFill>
              </a:rPr>
              <a:t>5</a:t>
            </a:r>
            <a:endParaRPr sz="1725" b="1" i="0">
              <a:solidFill>
                <a:srgbClr val="0B1021"/>
              </a:solidFill>
            </a:endParaRPr>
          </a:p>
        </p:txBody>
      </p:sp>
      <p:sp>
        <p:nvSpPr>
          <p:cNvPr id="27" name="shape-219"/>
          <p:cNvSpPr>
            <a:spLocks noGrp="1"/>
          </p:cNvSpPr>
          <p:nvPr/>
        </p:nvSpPr>
        <p:spPr>
          <a:xfrm>
            <a:off x="9201150" y="352425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F8FAFC"/>
                </a:solidFill>
              </a:defRPr>
            </a:pPr>
            <a:r>
              <a:rPr sz="1575" b="1" i="0">
                <a:solidFill>
                  <a:srgbClr val="F8FAFC"/>
                </a:solidFill>
              </a:rPr>
              <a:t>Resolve</a:t>
            </a:r>
            <a:endParaRPr sz="1575" b="1" i="0">
              <a:solidFill>
                <a:srgbClr val="F8FAFC"/>
              </a:solidFill>
            </a:endParaRPr>
          </a:p>
        </p:txBody>
      </p:sp>
      <p:sp>
        <p:nvSpPr>
          <p:cNvPr id="28" name="shape-220"/>
          <p:cNvSpPr>
            <a:spLocks noGrp="1"/>
          </p:cNvSpPr>
          <p:nvPr/>
        </p:nvSpPr>
        <p:spPr>
          <a:xfrm>
            <a:off x="9048750" y="39624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CBD5E1"/>
                </a:solidFill>
              </a:defRPr>
            </a:pPr>
            <a:r>
              <a:rPr sz="1200" b="0" i="0">
                <a:solidFill>
                  <a:srgbClr val="CBD5E1"/>
                </a:solidFill>
              </a:rPr>
              <a:t>User sees closure</a:t>
            </a:r>
            <a:endParaRPr sz="1200" b="0" i="0">
              <a:solidFill>
                <a:srgbClr val="CBD5E1"/>
              </a:solidFill>
            </a:endParaRPr>
          </a:p>
        </p:txBody>
      </p:sp>
      <p:sp>
        <p:nvSpPr>
          <p:cNvPr id="29" name="shape-221"/>
          <p:cNvSpPr>
            <a:spLocks noGrp="1"/>
          </p:cNvSpPr>
          <p:nvPr/>
        </p:nvSpPr>
        <p:spPr>
          <a:xfrm>
            <a:off x="1524000" y="5334000"/>
            <a:ext cx="8096250" cy="533400"/>
          </a:xfrm>
          <a:prstGeom prst="roundRect">
            <a:avLst>
              <a:gd name="adj" fmla="val 28571"/>
            </a:avLst>
          </a:prstGeom>
          <a:solidFill>
            <a:srgbClr val="1B2750"/>
          </a:solidFill>
          <a:ln w="0">
            <a:noFill/>
            <a:prstDash val="solid"/>
          </a:ln>
        </p:spPr>
      </p:sp>
      <p:sp>
        <p:nvSpPr>
          <p:cNvPr id="30" name="shape-222"/>
          <p:cNvSpPr>
            <a:spLocks noGrp="1"/>
          </p:cNvSpPr>
          <p:nvPr/>
        </p:nvSpPr>
        <p:spPr>
          <a:xfrm>
            <a:off x="1809750" y="5486400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Tip: reset the demo with POST /api/admin/demo/reset before the next run.</a:t>
            </a:r>
            <a:endParaRPr sz="1500" b="1" i="0">
              <a:solidFill>
                <a:srgbClr val="F8FAFC"/>
              </a:solidFill>
            </a:endParaRPr>
          </a:p>
        </p:txBody>
      </p:sp>
      <p:sp>
        <p:nvSpPr>
          <p:cNvPr id="31" name="shape-223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08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32" name="shape-224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shape-225"/>
          <p:cNvSpPr>
            <a:spLocks noGrp="1"/>
          </p:cNvSpPr>
          <p:nvPr/>
        </p:nvSpPr>
        <p:spPr>
          <a:xfrm>
            <a:off x="70485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READINESS</a:t>
            </a:r>
            <a:endParaRPr sz="1050" b="1" i="0">
              <a:solidFill>
                <a:srgbClr val="22D3EE"/>
              </a:solidFill>
            </a:endParaRPr>
          </a:p>
        </p:txBody>
      </p:sp>
      <p:sp>
        <p:nvSpPr>
          <p:cNvPr id="2" name="shape-226"/>
          <p:cNvSpPr>
            <a:spLocks noGrp="1"/>
          </p:cNvSpPr>
          <p:nvPr/>
        </p:nvSpPr>
        <p:spPr>
          <a:xfrm>
            <a:off x="704850" y="7239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8FAFC"/>
                </a:solidFill>
              </a:defRPr>
            </a:pPr>
            <a:r>
              <a:rPr sz="3150" b="1" i="0">
                <a:solidFill>
                  <a:srgbClr val="F8FAFC"/>
                </a:solidFill>
              </a:rPr>
              <a:t>Built for a credible hackathon handoff</a:t>
            </a:r>
            <a:endParaRPr sz="3150" b="1" i="0">
              <a:solidFill>
                <a:srgbClr val="F8FAFC"/>
              </a:solidFill>
            </a:endParaRPr>
          </a:p>
        </p:txBody>
      </p:sp>
      <p:sp>
        <p:nvSpPr>
          <p:cNvPr id="3" name="shape-227"/>
          <p:cNvSpPr>
            <a:spLocks noGrp="1"/>
          </p:cNvSpPr>
          <p:nvPr/>
        </p:nvSpPr>
        <p:spPr>
          <a:xfrm>
            <a:off x="723900" y="13144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CBD5E1"/>
                </a:solidFill>
              </a:defRPr>
            </a:pPr>
            <a:r>
              <a:rPr sz="1425" b="0" i="0">
                <a:solidFill>
                  <a:srgbClr val="CBD5E1"/>
                </a:solidFill>
              </a:rPr>
              <a:t>The demo is honest about what is implemented now and what belongs in the production roadmap.</a:t>
            </a:r>
            <a:endParaRPr sz="1425" b="0" i="0">
              <a:solidFill>
                <a:srgbClr val="CBD5E1"/>
              </a:solidFill>
            </a:endParaRPr>
          </a:p>
        </p:txBody>
      </p:sp>
      <p:sp>
        <p:nvSpPr>
          <p:cNvPr id="4" name="shape-228"/>
          <p:cNvSpPr>
            <a:spLocks noGrp="1"/>
          </p:cNvSpPr>
          <p:nvPr/>
        </p:nvSpPr>
        <p:spPr>
          <a:xfrm>
            <a:off x="704850" y="1695450"/>
            <a:ext cx="107823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" name="shape-229"/>
          <p:cNvSpPr>
            <a:spLocks noGrp="1"/>
          </p:cNvSpPr>
          <p:nvPr/>
        </p:nvSpPr>
        <p:spPr>
          <a:xfrm>
            <a:off x="857250" y="2190750"/>
            <a:ext cx="4857750" cy="2857500"/>
          </a:xfrm>
          <a:prstGeom prst="roundRect">
            <a:avLst>
              <a:gd name="adj" fmla="val 5333"/>
            </a:avLst>
          </a:prstGeom>
          <a:solidFill>
            <a:srgbClr val="151F40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6" name="shape-230"/>
          <p:cNvSpPr>
            <a:spLocks noGrp="1"/>
          </p:cNvSpPr>
          <p:nvPr/>
        </p:nvSpPr>
        <p:spPr>
          <a:xfrm>
            <a:off x="1181100" y="2514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86EFAC"/>
                </a:solidFill>
              </a:defRPr>
            </a:pPr>
            <a:r>
              <a:rPr sz="2100" b="1" i="0">
                <a:solidFill>
                  <a:srgbClr val="86EFAC"/>
                </a:solidFill>
              </a:rPr>
              <a:t>Ready now</a:t>
            </a:r>
            <a:endParaRPr sz="2100" b="1" i="0">
              <a:solidFill>
                <a:srgbClr val="86EFAC"/>
              </a:solidFill>
            </a:endParaRPr>
          </a:p>
        </p:txBody>
      </p:sp>
      <p:sp>
        <p:nvSpPr>
          <p:cNvPr id="7" name="shape-231"/>
          <p:cNvSpPr>
            <a:spLocks noGrp="1"/>
          </p:cNvSpPr>
          <p:nvPr/>
        </p:nvSpPr>
        <p:spPr>
          <a:xfrm>
            <a:off x="1219200" y="31242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8" name="shape-232"/>
          <p:cNvSpPr>
            <a:spLocks noGrp="1"/>
          </p:cNvSpPr>
          <p:nvPr/>
        </p:nvSpPr>
        <p:spPr>
          <a:xfrm>
            <a:off x="1466850" y="30480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Working citizen report flow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9" name="shape-233"/>
          <p:cNvSpPr>
            <a:spLocks noGrp="1"/>
          </p:cNvSpPr>
          <p:nvPr/>
        </p:nvSpPr>
        <p:spPr>
          <a:xfrm>
            <a:off x="1219200" y="34861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0" name="shape-234"/>
          <p:cNvSpPr>
            <a:spLocks noGrp="1"/>
          </p:cNvSpPr>
          <p:nvPr/>
        </p:nvSpPr>
        <p:spPr>
          <a:xfrm>
            <a:off x="1466850" y="34099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Admin queue + crew assignment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1" name="shape-235"/>
          <p:cNvSpPr>
            <a:spLocks noGrp="1"/>
          </p:cNvSpPr>
          <p:nvPr/>
        </p:nvSpPr>
        <p:spPr>
          <a:xfrm>
            <a:off x="1219200" y="38481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2" name="shape-236"/>
          <p:cNvSpPr>
            <a:spLocks noGrp="1"/>
          </p:cNvSpPr>
          <p:nvPr/>
        </p:nvSpPr>
        <p:spPr>
          <a:xfrm>
            <a:off x="1466850" y="37719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NVIDIA-only classification path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3" name="shape-237"/>
          <p:cNvSpPr>
            <a:spLocks noGrp="1"/>
          </p:cNvSpPr>
          <p:nvPr/>
        </p:nvSpPr>
        <p:spPr>
          <a:xfrm>
            <a:off x="1219200" y="42100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4" name="shape-238"/>
          <p:cNvSpPr>
            <a:spLocks noGrp="1"/>
          </p:cNvSpPr>
          <p:nvPr/>
        </p:nvSpPr>
        <p:spPr>
          <a:xfrm>
            <a:off x="1466850" y="41338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Playbook and audit trail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5" name="shape-239"/>
          <p:cNvSpPr>
            <a:spLocks noGrp="1"/>
          </p:cNvSpPr>
          <p:nvPr/>
        </p:nvSpPr>
        <p:spPr>
          <a:xfrm>
            <a:off x="1219200" y="45720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6" name="shape-240"/>
          <p:cNvSpPr>
            <a:spLocks noGrp="1"/>
          </p:cNvSpPr>
          <p:nvPr/>
        </p:nvSpPr>
        <p:spPr>
          <a:xfrm>
            <a:off x="1466850" y="44958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Build, smoke test, typecheck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17" name="shape-241"/>
          <p:cNvSpPr>
            <a:spLocks noGrp="1"/>
          </p:cNvSpPr>
          <p:nvPr/>
        </p:nvSpPr>
        <p:spPr>
          <a:xfrm>
            <a:off x="6286500" y="2190750"/>
            <a:ext cx="4381500" cy="2857500"/>
          </a:xfrm>
          <a:prstGeom prst="roundRect">
            <a:avLst>
              <a:gd name="adj" fmla="val 5333"/>
            </a:avLst>
          </a:prstGeom>
          <a:solidFill>
            <a:srgbClr val="151F4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8" name="shape-242"/>
          <p:cNvSpPr>
            <a:spLocks noGrp="1"/>
          </p:cNvSpPr>
          <p:nvPr/>
        </p:nvSpPr>
        <p:spPr>
          <a:xfrm>
            <a:off x="6610350" y="25146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BBF24"/>
                </a:solidFill>
              </a:defRPr>
            </a:pPr>
            <a:r>
              <a:rPr sz="2100" b="1" i="0">
                <a:solidFill>
                  <a:srgbClr val="FBBF24"/>
                </a:solidFill>
              </a:rPr>
              <a:t>Next for production</a:t>
            </a:r>
            <a:endParaRPr sz="2100" b="1" i="0">
              <a:solidFill>
                <a:srgbClr val="FBBF24"/>
              </a:solidFill>
            </a:endParaRPr>
          </a:p>
        </p:txBody>
      </p:sp>
      <p:sp>
        <p:nvSpPr>
          <p:cNvPr id="19" name="shape-243"/>
          <p:cNvSpPr>
            <a:spLocks noGrp="1"/>
          </p:cNvSpPr>
          <p:nvPr/>
        </p:nvSpPr>
        <p:spPr>
          <a:xfrm>
            <a:off x="6648450" y="31242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0" name="shape-244"/>
          <p:cNvSpPr>
            <a:spLocks noGrp="1"/>
          </p:cNvSpPr>
          <p:nvPr/>
        </p:nvSpPr>
        <p:spPr>
          <a:xfrm>
            <a:off x="6896100" y="30480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Transactional database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1" name="shape-245"/>
          <p:cNvSpPr>
            <a:spLocks noGrp="1"/>
          </p:cNvSpPr>
          <p:nvPr/>
        </p:nvSpPr>
        <p:spPr>
          <a:xfrm>
            <a:off x="6648450" y="34861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2" name="shape-246"/>
          <p:cNvSpPr>
            <a:spLocks noGrp="1"/>
          </p:cNvSpPr>
          <p:nvPr/>
        </p:nvSpPr>
        <p:spPr>
          <a:xfrm>
            <a:off x="6896100" y="34099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Live crew telemetry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3" name="shape-247"/>
          <p:cNvSpPr>
            <a:spLocks noGrp="1"/>
          </p:cNvSpPr>
          <p:nvPr/>
        </p:nvSpPr>
        <p:spPr>
          <a:xfrm>
            <a:off x="6648450" y="38481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4" name="shape-248"/>
          <p:cNvSpPr>
            <a:spLocks noGrp="1"/>
          </p:cNvSpPr>
          <p:nvPr/>
        </p:nvSpPr>
        <p:spPr>
          <a:xfrm>
            <a:off x="6896100" y="37719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Approved recovery provider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5" name="shape-249"/>
          <p:cNvSpPr>
            <a:spLocks noGrp="1"/>
          </p:cNvSpPr>
          <p:nvPr/>
        </p:nvSpPr>
        <p:spPr>
          <a:xfrm>
            <a:off x="6648450" y="421005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6" name="shape-250"/>
          <p:cNvSpPr>
            <a:spLocks noGrp="1"/>
          </p:cNvSpPr>
          <p:nvPr/>
        </p:nvSpPr>
        <p:spPr>
          <a:xfrm>
            <a:off x="6896100" y="41338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Exact campus operations pins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7" name="shape-251"/>
          <p:cNvSpPr>
            <a:spLocks noGrp="1"/>
          </p:cNvSpPr>
          <p:nvPr/>
        </p:nvSpPr>
        <p:spPr>
          <a:xfrm>
            <a:off x="6648450" y="4572000"/>
            <a:ext cx="95250" cy="95250"/>
          </a:xfrm>
          <a:prstGeom prst="ellipse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28" name="shape-252"/>
          <p:cNvSpPr>
            <a:spLocks noGrp="1"/>
          </p:cNvSpPr>
          <p:nvPr/>
        </p:nvSpPr>
        <p:spPr>
          <a:xfrm>
            <a:off x="6896100" y="44958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CBD5E1"/>
                </a:solidFill>
              </a:defRPr>
            </a:pPr>
            <a:r>
              <a:rPr sz="1500" b="0" i="0">
                <a:solidFill>
                  <a:srgbClr val="CBD5E1"/>
                </a:solidFill>
              </a:rPr>
              <a:t>Perceptual image similarity</a:t>
            </a:r>
            <a:endParaRPr sz="1500" b="0" i="0">
              <a:solidFill>
                <a:srgbClr val="CBD5E1"/>
              </a:solidFill>
            </a:endParaRPr>
          </a:p>
        </p:txBody>
      </p:sp>
      <p:sp>
        <p:nvSpPr>
          <p:cNvPr id="29" name="shape-253"/>
          <p:cNvSpPr>
            <a:spLocks noGrp="1"/>
          </p:cNvSpPr>
          <p:nvPr/>
        </p:nvSpPr>
        <p:spPr>
          <a:xfrm>
            <a:off x="952500" y="5581650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22D3EE"/>
                </a:solidFill>
              </a:defRPr>
            </a:pPr>
            <a:r>
              <a:rPr sz="1725" b="1" i="0">
                <a:solidFill>
                  <a:srgbClr val="22D3EE"/>
                </a:solidFill>
              </a:rPr>
              <a:t>A strong prototype earns trust by making the boundary visible.</a:t>
            </a:r>
            <a:endParaRPr sz="1725" b="1" i="0">
              <a:solidFill>
                <a:srgbClr val="22D3EE"/>
              </a:solidFill>
            </a:endParaRPr>
          </a:p>
        </p:txBody>
      </p:sp>
      <p:sp>
        <p:nvSpPr>
          <p:cNvPr id="30" name="shape-254"/>
          <p:cNvSpPr>
            <a:spLocks noGrp="1"/>
          </p:cNvSpPr>
          <p:nvPr/>
        </p:nvSpPr>
        <p:spPr>
          <a:xfrm>
            <a:off x="704850" y="64389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SWACHHLENS  ·  09</a:t>
            </a:r>
            <a:endParaRPr sz="900" b="1" i="0">
              <a:solidFill>
                <a:srgbClr val="94A3B8"/>
              </a:solidFill>
            </a:endParaRPr>
          </a:p>
        </p:txBody>
      </p:sp>
      <p:sp>
        <p:nvSpPr>
          <p:cNvPr id="31" name="shape-255"/>
          <p:cNvSpPr>
            <a:spLocks noGrp="1"/>
          </p:cNvSpPr>
          <p:nvPr/>
        </p:nvSpPr>
        <p:spPr>
          <a:xfrm>
            <a:off x="9572625" y="64389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94A3B8"/>
                </a:solidFill>
              </a:defRPr>
            </a:pPr>
            <a:r>
              <a:rPr sz="900" b="1" i="0">
                <a:solidFill>
                  <a:srgbClr val="94A3B8"/>
                </a:solidFill>
              </a:rPr>
              <a:t>KIIT BHUBANESWAR</a:t>
            </a:r>
            <a:endParaRPr sz="900" b="1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hape-256"/>
          <p:cNvSpPr>
            <a:spLocks noGrp="1"/>
          </p:cNvSpPr>
          <p:nvPr/>
        </p:nvSpPr>
        <p:spPr>
          <a:xfrm>
            <a:off x="8096250" y="1143000"/>
            <a:ext cx="4095750" cy="4095750"/>
          </a:xfrm>
          <a:prstGeom prst="ellipse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" name="shape-257"/>
          <p:cNvSpPr>
            <a:spLocks noGrp="1"/>
          </p:cNvSpPr>
          <p:nvPr/>
        </p:nvSpPr>
        <p:spPr>
          <a:xfrm>
            <a:off x="8858250" y="1905000"/>
            <a:ext cx="2571750" cy="2571750"/>
          </a:xfrm>
          <a:prstGeom prst="ellipse">
            <a:avLst/>
          </a:prstGeom>
          <a:solidFill>
            <a:srgbClr val="0B1021"/>
          </a:solidFill>
          <a:ln w="0">
            <a:noFill/>
            <a:prstDash val="solid"/>
          </a:ln>
        </p:spPr>
      </p:sp>
      <p:sp>
        <p:nvSpPr>
          <p:cNvPr id="3" name="shape-258"/>
          <p:cNvSpPr>
            <a:spLocks noGrp="1"/>
          </p:cNvSpPr>
          <p:nvPr/>
        </p:nvSpPr>
        <p:spPr>
          <a:xfrm>
            <a:off x="781050" y="876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22D3EE"/>
                </a:solidFill>
              </a:defRPr>
            </a:pPr>
            <a:r>
              <a:rPr sz="1125" b="1" i="0">
                <a:solidFill>
                  <a:srgbClr val="22D3EE"/>
                </a:solidFill>
              </a:rPr>
              <a:t>THE TAKEAWAY</a:t>
            </a:r>
            <a:endParaRPr sz="1125" b="1" i="0">
              <a:solidFill>
                <a:srgbClr val="22D3EE"/>
              </a:solidFill>
            </a:endParaRPr>
          </a:p>
        </p:txBody>
      </p:sp>
      <p:sp>
        <p:nvSpPr>
          <p:cNvPr id="4" name="shape-259"/>
          <p:cNvSpPr>
            <a:spLocks noGrp="1"/>
          </p:cNvSpPr>
          <p:nvPr/>
        </p:nvSpPr>
        <p:spPr>
          <a:xfrm>
            <a:off x="742950" y="1695450"/>
            <a:ext cx="6381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 i="0">
                <a:solidFill>
                  <a:srgbClr val="F8FAFC"/>
                </a:solidFill>
              </a:defRPr>
            </a:pPr>
            <a:r>
              <a:rPr sz="4200" b="1" i="0">
                <a:solidFill>
                  <a:srgbClr val="F8FAFC"/>
                </a:solidFill>
              </a:rPr>
              <a:t>Make every report</a:t>
            </a:r>
            <a:endParaRPr sz="4200" b="1" i="0">
              <a:solidFill>
                <a:srgbClr val="F8FAFC"/>
              </a:solidFill>
            </a:endParaRPr>
          </a:p>
          <a:p>
            <a:pPr algn="l">
              <a:defRPr sz="4200" b="1" i="0">
                <a:solidFill>
                  <a:srgbClr val="F8FAFC"/>
                </a:solidFill>
              </a:defRPr>
            </a:pPr>
            <a:r>
              <a:rPr sz="4200" b="1" i="0">
                <a:solidFill>
                  <a:srgbClr val="F8FAFC"/>
                </a:solidFill>
              </a:rPr>
              <a:t>actionable.</a:t>
            </a:r>
            <a:endParaRPr sz="4200" b="1" i="0">
              <a:solidFill>
                <a:srgbClr val="F8FAFC"/>
              </a:solidFill>
            </a:endParaRPr>
          </a:p>
        </p:txBody>
      </p:sp>
      <p:sp>
        <p:nvSpPr>
          <p:cNvPr id="5" name="shape-260"/>
          <p:cNvSpPr>
            <a:spLocks noGrp="1"/>
          </p:cNvSpPr>
          <p:nvPr/>
        </p:nvSpPr>
        <p:spPr>
          <a:xfrm>
            <a:off x="781050" y="3486150"/>
            <a:ext cx="619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CBD5E1"/>
                </a:solidFill>
              </a:defRPr>
            </a:pPr>
            <a:r>
              <a:rPr sz="1800" b="0" i="0">
                <a:solidFill>
                  <a:srgbClr val="CBD5E1"/>
                </a:solidFill>
              </a:rPr>
              <a:t>SwachhLens joins visual understanding with operational follow-through — so the right crew can act on the right problem.</a:t>
            </a:r>
            <a:endParaRPr sz="1800" b="0" i="0">
              <a:solidFill>
                <a:srgbClr val="CBD5E1"/>
              </a:solidFill>
            </a:endParaRPr>
          </a:p>
        </p:txBody>
      </p:sp>
      <p:sp>
        <p:nvSpPr>
          <p:cNvPr id="6" name="shape-261"/>
          <p:cNvSpPr>
            <a:spLocks noGrp="1"/>
          </p:cNvSpPr>
          <p:nvPr/>
        </p:nvSpPr>
        <p:spPr>
          <a:xfrm>
            <a:off x="781050" y="4953000"/>
            <a:ext cx="4381500" cy="3048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APP  ·  ARCHITECTURE  ·  DOCUMENTATION  ·  DECK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7" name="shape-262"/>
          <p:cNvSpPr>
            <a:spLocks noGrp="1"/>
          </p:cNvSpPr>
          <p:nvPr/>
        </p:nvSpPr>
        <p:spPr>
          <a:xfrm>
            <a:off x="781050" y="5562600"/>
            <a:ext cx="638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86EFAC"/>
                </a:solidFill>
              </a:defRPr>
            </a:pPr>
            <a:endParaRPr sz="1425" b="1" i="0">
              <a:solidFill>
                <a:srgbClr val="86EFAC"/>
              </a:solidFill>
            </a:endParaRPr>
          </a:p>
        </p:txBody>
      </p:sp>
      <p:sp>
        <p:nvSpPr>
          <p:cNvPr id="8" name="shape-263"/>
          <p:cNvSpPr>
            <a:spLocks noGrp="1"/>
          </p:cNvSpPr>
          <p:nvPr/>
        </p:nvSpPr>
        <p:spPr>
          <a:xfrm>
            <a:off x="10610850" y="611505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CBD5E1"/>
                </a:solidFill>
              </a:defRPr>
            </a:pPr>
            <a:r>
              <a:rPr sz="1350" b="1" i="0">
                <a:solidFill>
                  <a:srgbClr val="CBD5E1"/>
                </a:solidFill>
              </a:rPr>
              <a:t>10</a:t>
            </a:r>
            <a:endParaRPr sz="1350" b="1" i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4025</Words>
  <Application>WPS Presentation</Application>
  <PresentationFormat>Converted Presentation</PresentationFormat>
  <Paragraphs>339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Md Asmar</cp:lastModifiedBy>
  <cp:revision>1</cp:revision>
  <dcterms:created xsi:type="dcterms:W3CDTF">2026-08-23T16:31:51Z</dcterms:created>
  <dcterms:modified xsi:type="dcterms:W3CDTF">2026-08-23T16:31:51Z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18D628756A534D2A89B5F3C821CFFBF4_12</vt:lpwstr>
  </property>
</Properties>
</file>